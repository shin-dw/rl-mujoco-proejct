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y="5143500" cx="9144000"/>
  <p:notesSz cx="6858000" cy="9144000"/>
  <p:embeddedFontLst>
    <p:embeddedFont>
      <p:font typeface="Noto Sans KR"/>
      <p:regular r:id="rId41"/>
      <p:bold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9EA0B3D-F3DF-47C0-8B46-3B483F88BA2D}">
  <a:tblStyle styleId="{09EA0B3D-F3DF-47C0-8B46-3B483F88BA2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font" Target="fonts/NotoSansKR-bold.fntdata"/><Relationship Id="rId41" Type="http://schemas.openxmlformats.org/officeDocument/2006/relationships/font" Target="fonts/NotoSansKR-regular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b704bc8c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b704bc8c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b704bc8ce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eb704bc8ce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eb704bc8ce_1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eb704bc8ce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eb704bc8ce_1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eb704bc8ce_1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eb704bc8ce_1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eb704bc8ce_1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eb704bc8ce_1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eb704bc8ce_1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eb704bc8ce_1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eb704bc8ce_1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e5ba868cde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e5ba868cd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5ba868cde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e5ba868cde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e5ba868cde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e5ba868cde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e5ba868cde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e5ba868cde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e5ba868cde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e5ba868cde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e5ba868cde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e5ba868cde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e5ba868cde_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e5ba868cde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e5ba868cde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e5ba868cde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e5ba868cde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e5ba868cde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e5ba868cde_1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e5ba868cde_1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e5ba868cde_1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e5ba868cde_1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e5ba868cde_1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e5ba868cde_1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e5ba868cde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e5ba868cde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e5ba868cde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e5ba868cde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e735150379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e735150379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e5ba868cde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e5ba868cde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e735150379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e735150379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e735150379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3e735150379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e735150379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3e735150379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e5ba868cde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3e5ba868cde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e5ba868cde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3e5ba868cde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e5ba868cde_0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e5ba868cde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e5ba868cde_0_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3e5ba868cde_0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e5ba868cde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3e5ba868cde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e5ba868cde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3e5ba868cde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e5ba868cde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3e5ba868cde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3e5ba868cde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3e5ba868cde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e5ba868cde_0_3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e5ba868cde_0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61F1C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281450"/>
            <a:ext cx="9144000" cy="441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</p:txBody>
      </p:sp>
      <p:pic>
        <p:nvPicPr>
          <p:cNvPr id="55" name="Google Shape;55;p13" title="4. 시그니처(Signature)_가.좌우조합(기본)_국문영문.png"/>
          <p:cNvPicPr preferRelativeResize="0"/>
          <p:nvPr/>
        </p:nvPicPr>
        <p:blipFill rotWithShape="1">
          <a:blip r:embed="rId3">
            <a:alphaModFix/>
          </a:blip>
          <a:srcRect b="31637" l="21203" r="13133" t="32382"/>
          <a:stretch/>
        </p:blipFill>
        <p:spPr>
          <a:xfrm>
            <a:off x="7023175" y="360725"/>
            <a:ext cx="1839227" cy="694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2. 교표(Symbol).png"/>
          <p:cNvPicPr preferRelativeResize="0"/>
          <p:nvPr/>
        </p:nvPicPr>
        <p:blipFill rotWithShape="1">
          <a:blip r:embed="rId4">
            <a:alphaModFix/>
          </a:blip>
          <a:srcRect b="15920" l="32844" r="29163" t="18377"/>
          <a:stretch/>
        </p:blipFill>
        <p:spPr>
          <a:xfrm>
            <a:off x="862850" y="1144283"/>
            <a:ext cx="2013952" cy="240122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" name="Google Shape;57;p13"/>
          <p:cNvCxnSpPr/>
          <p:nvPr/>
        </p:nvCxnSpPr>
        <p:spPr>
          <a:xfrm flipH="1">
            <a:off x="3583185" y="2749833"/>
            <a:ext cx="4680000" cy="17100"/>
          </a:xfrm>
          <a:prstGeom prst="straightConnector1">
            <a:avLst/>
          </a:prstGeom>
          <a:noFill/>
          <a:ln cap="flat" cmpd="sng" w="28575">
            <a:solidFill>
              <a:srgbClr val="861F1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" name="Google Shape;58;p13"/>
          <p:cNvSpPr txBox="1"/>
          <p:nvPr/>
        </p:nvSpPr>
        <p:spPr>
          <a:xfrm>
            <a:off x="3500150" y="1299395"/>
            <a:ext cx="4675800" cy="13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500">
                <a:solidFill>
                  <a:srgbClr val="861F1C"/>
                </a:solidFill>
                <a:latin typeface="Noto Sans KR"/>
                <a:ea typeface="Noto Sans KR"/>
                <a:cs typeface="Noto Sans KR"/>
                <a:sym typeface="Noto Sans KR"/>
              </a:rPr>
              <a:t>MuJoCo 연속 제어 환경에서의</a:t>
            </a:r>
            <a:endParaRPr b="1" sz="2500">
              <a:solidFill>
                <a:srgbClr val="861F1C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500">
                <a:solidFill>
                  <a:srgbClr val="861F1C"/>
                </a:solidFill>
                <a:latin typeface="Noto Sans KR"/>
                <a:ea typeface="Noto Sans KR"/>
                <a:cs typeface="Noto Sans KR"/>
                <a:sym typeface="Noto Sans KR"/>
              </a:rPr>
              <a:t>강화학습 알고리즘 비교 및</a:t>
            </a:r>
            <a:endParaRPr b="1" sz="2500">
              <a:solidFill>
                <a:srgbClr val="861F1C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500">
                <a:solidFill>
                  <a:srgbClr val="861F1C"/>
                </a:solidFill>
                <a:latin typeface="Noto Sans KR"/>
                <a:ea typeface="Noto Sans KR"/>
                <a:cs typeface="Noto Sans KR"/>
                <a:sym typeface="Noto Sans KR"/>
              </a:rPr>
              <a:t>Reward Engineering 연구</a:t>
            </a:r>
            <a:endParaRPr b="1" sz="2500">
              <a:solidFill>
                <a:srgbClr val="861F1C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59" name="Google Shape;59;p13" title="ChatGPT Image 2026년 5월 30일 오후 05_15_48.png"/>
          <p:cNvPicPr preferRelativeResize="0"/>
          <p:nvPr/>
        </p:nvPicPr>
        <p:blipFill rotWithShape="1">
          <a:blip r:embed="rId5">
            <a:alphaModFix/>
          </a:blip>
          <a:srcRect b="1826" l="34569" r="33807" t="93402"/>
          <a:stretch/>
        </p:blipFill>
        <p:spPr>
          <a:xfrm>
            <a:off x="2876800" y="4743125"/>
            <a:ext cx="3390400" cy="36205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3"/>
          <p:cNvSpPr txBox="1"/>
          <p:nvPr/>
        </p:nvSpPr>
        <p:spPr>
          <a:xfrm>
            <a:off x="4613750" y="2803130"/>
            <a:ext cx="3562200" cy="13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인공지능</a:t>
            </a:r>
            <a:endParaRPr b="1" sz="18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이희승(A740xx)</a:t>
            </a:r>
            <a:endParaRPr b="1" sz="18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신동우(</a:t>
            </a:r>
            <a:r>
              <a:rPr b="1" lang="ko" sz="18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A740xx</a:t>
            </a:r>
            <a:r>
              <a:rPr b="1" lang="ko" sz="18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)</a:t>
            </a:r>
            <a:endParaRPr b="1" sz="18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박민설(A74038)</a:t>
            </a:r>
            <a:endParaRPr b="1" sz="18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3583175" y="4104825"/>
            <a:ext cx="3562200" cy="4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Github: </a:t>
            </a:r>
            <a:endParaRPr b="1" sz="18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61F1C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/>
          <p:nvPr/>
        </p:nvSpPr>
        <p:spPr>
          <a:xfrm>
            <a:off x="0" y="281450"/>
            <a:ext cx="9144000" cy="456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</p:txBody>
      </p:sp>
      <p:cxnSp>
        <p:nvCxnSpPr>
          <p:cNvPr id="67" name="Google Shape;67;p14"/>
          <p:cNvCxnSpPr/>
          <p:nvPr/>
        </p:nvCxnSpPr>
        <p:spPr>
          <a:xfrm flipH="1">
            <a:off x="613006" y="1229680"/>
            <a:ext cx="1800000" cy="17100"/>
          </a:xfrm>
          <a:prstGeom prst="straightConnector1">
            <a:avLst/>
          </a:prstGeom>
          <a:noFill/>
          <a:ln cap="flat" cmpd="sng" w="28575">
            <a:solidFill>
              <a:srgbClr val="861F1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" name="Google Shape;68;p14"/>
          <p:cNvSpPr txBox="1"/>
          <p:nvPr/>
        </p:nvSpPr>
        <p:spPr>
          <a:xfrm>
            <a:off x="551050" y="637493"/>
            <a:ext cx="19827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500">
                <a:solidFill>
                  <a:srgbClr val="861F1C"/>
                </a:solidFill>
                <a:latin typeface="Noto Sans KR"/>
                <a:ea typeface="Noto Sans KR"/>
                <a:cs typeface="Noto Sans KR"/>
                <a:sym typeface="Noto Sans KR"/>
              </a:rPr>
              <a:t>CONTENTS</a:t>
            </a:r>
            <a:endParaRPr b="1" sz="2500">
              <a:solidFill>
                <a:srgbClr val="861F1C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613000" y="2263957"/>
            <a:ext cx="35622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861F1C"/>
                </a:solidFill>
                <a:latin typeface="Noto Sans KR"/>
                <a:ea typeface="Noto Sans KR"/>
                <a:cs typeface="Noto Sans KR"/>
                <a:sym typeface="Noto Sans KR"/>
              </a:rPr>
              <a:t>1. 프로젝트 주제 및 목표</a:t>
            </a:r>
            <a:endParaRPr b="1" sz="1800">
              <a:solidFill>
                <a:srgbClr val="861F1C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861F1C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613000" y="3011119"/>
            <a:ext cx="35622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861F1C"/>
                </a:solidFill>
                <a:latin typeface="Noto Sans KR"/>
                <a:ea typeface="Noto Sans KR"/>
                <a:cs typeface="Noto Sans KR"/>
                <a:sym typeface="Noto Sans KR"/>
              </a:rPr>
              <a:t>2</a:t>
            </a:r>
            <a:r>
              <a:rPr b="1" lang="ko" sz="1800">
                <a:solidFill>
                  <a:srgbClr val="861F1C"/>
                </a:solidFill>
                <a:latin typeface="Noto Sans KR"/>
                <a:ea typeface="Noto Sans KR"/>
                <a:cs typeface="Noto Sans KR"/>
                <a:sym typeface="Noto Sans KR"/>
              </a:rPr>
              <a:t>. </a:t>
            </a:r>
            <a:r>
              <a:rPr b="1" lang="ko" sz="1800">
                <a:solidFill>
                  <a:srgbClr val="861F1C"/>
                </a:solidFill>
                <a:latin typeface="Noto Sans KR"/>
                <a:ea typeface="Noto Sans KR"/>
                <a:cs typeface="Noto Sans KR"/>
                <a:sym typeface="Noto Sans KR"/>
              </a:rPr>
              <a:t>환경 및 데이터셋</a:t>
            </a:r>
            <a:endParaRPr b="1" sz="1800">
              <a:solidFill>
                <a:srgbClr val="861F1C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613000" y="3758266"/>
            <a:ext cx="40968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861F1C"/>
                </a:solidFill>
                <a:latin typeface="Noto Sans KR"/>
                <a:ea typeface="Noto Sans KR"/>
                <a:cs typeface="Noto Sans KR"/>
                <a:sym typeface="Noto Sans KR"/>
              </a:rPr>
              <a:t>3</a:t>
            </a:r>
            <a:r>
              <a:rPr b="1" lang="ko" sz="1800">
                <a:solidFill>
                  <a:srgbClr val="861F1C"/>
                </a:solidFill>
                <a:latin typeface="Noto Sans KR"/>
                <a:ea typeface="Noto Sans KR"/>
                <a:cs typeface="Noto Sans KR"/>
                <a:sym typeface="Noto Sans KR"/>
              </a:rPr>
              <a:t>. State-Action-Reward </a:t>
            </a:r>
            <a:r>
              <a:rPr b="1" lang="ko" sz="1800">
                <a:solidFill>
                  <a:srgbClr val="861F1C"/>
                </a:solidFill>
                <a:latin typeface="Noto Sans KR"/>
                <a:ea typeface="Noto Sans KR"/>
                <a:cs typeface="Noto Sans KR"/>
                <a:sym typeface="Noto Sans KR"/>
              </a:rPr>
              <a:t>설계</a:t>
            </a:r>
            <a:endParaRPr b="1" sz="1800">
              <a:solidFill>
                <a:srgbClr val="861F1C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5022600" y="1448141"/>
            <a:ext cx="40968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861F1C"/>
                </a:solidFill>
                <a:latin typeface="Noto Sans KR"/>
                <a:ea typeface="Noto Sans KR"/>
                <a:cs typeface="Noto Sans KR"/>
                <a:sym typeface="Noto Sans KR"/>
              </a:rPr>
              <a:t>4</a:t>
            </a:r>
            <a:r>
              <a:rPr b="1" lang="ko" sz="1800">
                <a:solidFill>
                  <a:srgbClr val="861F1C"/>
                </a:solidFill>
                <a:latin typeface="Noto Sans KR"/>
                <a:ea typeface="Noto Sans KR"/>
                <a:cs typeface="Noto Sans KR"/>
                <a:sym typeface="Noto Sans KR"/>
              </a:rPr>
              <a:t>. </a:t>
            </a:r>
            <a:r>
              <a:rPr b="1" lang="ko" sz="1800">
                <a:solidFill>
                  <a:srgbClr val="861F1C"/>
                </a:solidFill>
                <a:latin typeface="Noto Sans KR"/>
                <a:ea typeface="Noto Sans KR"/>
                <a:cs typeface="Noto Sans KR"/>
                <a:sym typeface="Noto Sans KR"/>
              </a:rPr>
              <a:t>알고리즘 설계</a:t>
            </a:r>
            <a:endParaRPr b="1" sz="1800">
              <a:solidFill>
                <a:srgbClr val="861F1C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3" name="Google Shape;73;p14"/>
          <p:cNvSpPr txBox="1"/>
          <p:nvPr/>
        </p:nvSpPr>
        <p:spPr>
          <a:xfrm>
            <a:off x="5022612" y="2209909"/>
            <a:ext cx="40968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861F1C"/>
                </a:solidFill>
                <a:latin typeface="Noto Sans KR"/>
                <a:ea typeface="Noto Sans KR"/>
                <a:cs typeface="Noto Sans KR"/>
                <a:sym typeface="Noto Sans KR"/>
              </a:rPr>
              <a:t>5</a:t>
            </a:r>
            <a:r>
              <a:rPr b="1" lang="ko" sz="1800">
                <a:solidFill>
                  <a:srgbClr val="861F1C"/>
                </a:solidFill>
                <a:latin typeface="Noto Sans KR"/>
                <a:ea typeface="Noto Sans KR"/>
                <a:cs typeface="Noto Sans KR"/>
                <a:sym typeface="Noto Sans KR"/>
              </a:rPr>
              <a:t>. </a:t>
            </a:r>
            <a:r>
              <a:rPr b="1" lang="ko" sz="1800">
                <a:solidFill>
                  <a:srgbClr val="861F1C"/>
                </a:solidFill>
                <a:latin typeface="Noto Sans KR"/>
                <a:ea typeface="Noto Sans KR"/>
                <a:cs typeface="Noto Sans KR"/>
                <a:sym typeface="Noto Sans KR"/>
              </a:rPr>
              <a:t>실험 셋업</a:t>
            </a:r>
            <a:endParaRPr b="1" sz="1800">
              <a:solidFill>
                <a:srgbClr val="861F1C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4" name="Google Shape;74;p14"/>
          <p:cNvSpPr txBox="1"/>
          <p:nvPr/>
        </p:nvSpPr>
        <p:spPr>
          <a:xfrm>
            <a:off x="5022612" y="2971696"/>
            <a:ext cx="40968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861F1C"/>
                </a:solidFill>
                <a:latin typeface="Noto Sans KR"/>
                <a:ea typeface="Noto Sans KR"/>
                <a:cs typeface="Noto Sans KR"/>
                <a:sym typeface="Noto Sans KR"/>
              </a:rPr>
              <a:t>6</a:t>
            </a:r>
            <a:r>
              <a:rPr b="1" lang="ko" sz="1800">
                <a:solidFill>
                  <a:srgbClr val="861F1C"/>
                </a:solidFill>
                <a:latin typeface="Noto Sans KR"/>
                <a:ea typeface="Noto Sans KR"/>
                <a:cs typeface="Noto Sans KR"/>
                <a:sym typeface="Noto Sans KR"/>
              </a:rPr>
              <a:t>. 실험 </a:t>
            </a:r>
            <a:r>
              <a:rPr b="1" lang="ko" sz="1800">
                <a:solidFill>
                  <a:srgbClr val="861F1C"/>
                </a:solidFill>
                <a:latin typeface="Noto Sans KR"/>
                <a:ea typeface="Noto Sans KR"/>
                <a:cs typeface="Noto Sans KR"/>
                <a:sym typeface="Noto Sans KR"/>
              </a:rPr>
              <a:t>결과</a:t>
            </a:r>
            <a:endParaRPr b="1" sz="1800">
              <a:solidFill>
                <a:srgbClr val="861F1C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5" name="Google Shape;75;p14"/>
          <p:cNvSpPr txBox="1"/>
          <p:nvPr/>
        </p:nvSpPr>
        <p:spPr>
          <a:xfrm>
            <a:off x="5022612" y="3733484"/>
            <a:ext cx="40968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861F1C"/>
                </a:solidFill>
                <a:latin typeface="Noto Sans KR"/>
                <a:ea typeface="Noto Sans KR"/>
                <a:cs typeface="Noto Sans KR"/>
                <a:sym typeface="Noto Sans KR"/>
              </a:rPr>
              <a:t>7</a:t>
            </a:r>
            <a:r>
              <a:rPr b="1" lang="ko" sz="1800">
                <a:solidFill>
                  <a:srgbClr val="861F1C"/>
                </a:solidFill>
                <a:latin typeface="Noto Sans KR"/>
                <a:ea typeface="Noto Sans KR"/>
                <a:cs typeface="Noto Sans KR"/>
                <a:sym typeface="Noto Sans KR"/>
              </a:rPr>
              <a:t>. </a:t>
            </a:r>
            <a:r>
              <a:rPr b="1" lang="ko" sz="1800">
                <a:solidFill>
                  <a:srgbClr val="861F1C"/>
                </a:solidFill>
                <a:latin typeface="Noto Sans KR"/>
                <a:ea typeface="Noto Sans KR"/>
                <a:cs typeface="Noto Sans KR"/>
                <a:sym typeface="Noto Sans KR"/>
              </a:rPr>
              <a:t>토의 및 결론</a:t>
            </a:r>
            <a:endParaRPr b="1" sz="1800">
              <a:solidFill>
                <a:srgbClr val="861F1C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6" name="Google Shape;76;p14"/>
          <p:cNvSpPr txBox="1"/>
          <p:nvPr/>
        </p:nvSpPr>
        <p:spPr>
          <a:xfrm>
            <a:off x="613000" y="1472712"/>
            <a:ext cx="35622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861F1C"/>
                </a:solidFill>
                <a:latin typeface="Noto Sans KR"/>
                <a:ea typeface="Noto Sans KR"/>
                <a:cs typeface="Noto Sans KR"/>
                <a:sym typeface="Noto Sans KR"/>
              </a:rPr>
              <a:t>0</a:t>
            </a:r>
            <a:r>
              <a:rPr b="1" lang="ko" sz="1800">
                <a:solidFill>
                  <a:srgbClr val="861F1C"/>
                </a:solidFill>
                <a:latin typeface="Noto Sans KR"/>
                <a:ea typeface="Noto Sans KR"/>
                <a:cs typeface="Noto Sans KR"/>
                <a:sym typeface="Noto Sans KR"/>
              </a:rPr>
              <a:t>. </a:t>
            </a:r>
            <a:r>
              <a:rPr b="1" lang="ko" sz="1800">
                <a:solidFill>
                  <a:srgbClr val="861F1C"/>
                </a:solidFill>
                <a:latin typeface="Noto Sans KR"/>
                <a:ea typeface="Noto Sans KR"/>
                <a:cs typeface="Noto Sans KR"/>
                <a:sym typeface="Noto Sans KR"/>
              </a:rPr>
              <a:t>팀원 기여 사항</a:t>
            </a:r>
            <a:endParaRPr b="1" sz="1800">
              <a:solidFill>
                <a:srgbClr val="861F1C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861F1C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77" name="Google Shape;77;p14" title="4. 시그니처(Signature)_가.좌우조합(기본)_국문영문.png"/>
          <p:cNvPicPr preferRelativeResize="0"/>
          <p:nvPr/>
        </p:nvPicPr>
        <p:blipFill rotWithShape="1">
          <a:blip r:embed="rId3">
            <a:alphaModFix/>
          </a:blip>
          <a:srcRect b="31637" l="21203" r="13133" t="32382"/>
          <a:stretch/>
        </p:blipFill>
        <p:spPr>
          <a:xfrm>
            <a:off x="7023175" y="360725"/>
            <a:ext cx="1839227" cy="694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61F1C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/>
          <p:nvPr/>
        </p:nvSpPr>
        <p:spPr>
          <a:xfrm>
            <a:off x="0" y="281450"/>
            <a:ext cx="9144000" cy="456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</p:txBody>
      </p:sp>
      <p:pic>
        <p:nvPicPr>
          <p:cNvPr id="83" name="Google Shape;83;p15" title="4. 시그니처(Signature)_가.좌우조합(기본)_국문영문.png"/>
          <p:cNvPicPr preferRelativeResize="0"/>
          <p:nvPr/>
        </p:nvPicPr>
        <p:blipFill rotWithShape="1">
          <a:blip r:embed="rId3">
            <a:alphaModFix/>
          </a:blip>
          <a:srcRect b="31637" l="21203" r="13133" t="32382"/>
          <a:stretch/>
        </p:blipFill>
        <p:spPr>
          <a:xfrm>
            <a:off x="7023175" y="360725"/>
            <a:ext cx="1839227" cy="694824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5"/>
          <p:cNvSpPr txBox="1"/>
          <p:nvPr/>
        </p:nvSpPr>
        <p:spPr>
          <a:xfrm>
            <a:off x="2901600" y="2262500"/>
            <a:ext cx="3340800" cy="6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000">
                <a:solidFill>
                  <a:srgbClr val="861F1C"/>
                </a:solidFill>
                <a:latin typeface="Noto Sans KR"/>
                <a:ea typeface="Noto Sans KR"/>
                <a:cs typeface="Noto Sans KR"/>
                <a:sym typeface="Noto Sans KR"/>
              </a:rPr>
              <a:t>0. 팀원 기여 사항 </a:t>
            </a:r>
            <a:endParaRPr b="1" sz="3000">
              <a:solidFill>
                <a:srgbClr val="861F1C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61F1C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/>
          <p:nvPr/>
        </p:nvSpPr>
        <p:spPr>
          <a:xfrm>
            <a:off x="0" y="281450"/>
            <a:ext cx="9144000" cy="456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</p:txBody>
      </p:sp>
      <p:sp>
        <p:nvSpPr>
          <p:cNvPr id="90" name="Google Shape;90;p16"/>
          <p:cNvSpPr txBox="1"/>
          <p:nvPr/>
        </p:nvSpPr>
        <p:spPr>
          <a:xfrm>
            <a:off x="267975" y="451639"/>
            <a:ext cx="3705000" cy="6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500">
                <a:solidFill>
                  <a:srgbClr val="861F1C"/>
                </a:solidFill>
                <a:latin typeface="Noto Sans KR"/>
                <a:ea typeface="Noto Sans KR"/>
                <a:cs typeface="Noto Sans KR"/>
                <a:sym typeface="Noto Sans KR"/>
              </a:rPr>
              <a:t>0. 팀원 기여 사항 </a:t>
            </a:r>
            <a:endParaRPr b="1" sz="2500">
              <a:solidFill>
                <a:srgbClr val="861F1C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91" name="Google Shape;91;p16" title="4. 시그니처(Signature)_가.좌우조합(기본)_국문영문.png"/>
          <p:cNvPicPr preferRelativeResize="0"/>
          <p:nvPr/>
        </p:nvPicPr>
        <p:blipFill rotWithShape="1">
          <a:blip r:embed="rId3">
            <a:alphaModFix/>
          </a:blip>
          <a:srcRect b="31637" l="21203" r="13133" t="32382"/>
          <a:stretch/>
        </p:blipFill>
        <p:spPr>
          <a:xfrm>
            <a:off x="7023175" y="360725"/>
            <a:ext cx="1839227" cy="6948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2" name="Google Shape;92;p16"/>
          <p:cNvCxnSpPr/>
          <p:nvPr/>
        </p:nvCxnSpPr>
        <p:spPr>
          <a:xfrm flipH="1">
            <a:off x="285055" y="1087286"/>
            <a:ext cx="8640000" cy="17100"/>
          </a:xfrm>
          <a:prstGeom prst="straightConnector1">
            <a:avLst/>
          </a:prstGeom>
          <a:noFill/>
          <a:ln cap="flat" cmpd="sng" w="28575">
            <a:solidFill>
              <a:srgbClr val="861F1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" name="Google Shape;93;p16"/>
          <p:cNvSpPr/>
          <p:nvPr/>
        </p:nvSpPr>
        <p:spPr>
          <a:xfrm>
            <a:off x="379790" y="1484113"/>
            <a:ext cx="2721900" cy="26730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4" name="Google Shape;94;p16" title="free-icon-user-107711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840" y="1554361"/>
            <a:ext cx="400375" cy="400349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6"/>
          <p:cNvSpPr txBox="1"/>
          <p:nvPr/>
        </p:nvSpPr>
        <p:spPr>
          <a:xfrm>
            <a:off x="1010215" y="1554358"/>
            <a:ext cx="1839300" cy="5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6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신동우(A740xx)</a:t>
            </a:r>
            <a:r>
              <a:rPr b="1" lang="ko" sz="1600">
                <a:solidFill>
                  <a:srgbClr val="861F1C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b="1" sz="1600">
              <a:solidFill>
                <a:srgbClr val="861F1C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6" name="Google Shape;96;p16"/>
          <p:cNvSpPr/>
          <p:nvPr/>
        </p:nvSpPr>
        <p:spPr>
          <a:xfrm>
            <a:off x="382640" y="2061494"/>
            <a:ext cx="2716200" cy="20865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7" name="Google Shape;97;p16"/>
          <p:cNvSpPr txBox="1"/>
          <p:nvPr/>
        </p:nvSpPr>
        <p:spPr>
          <a:xfrm>
            <a:off x="379800" y="2172950"/>
            <a:ext cx="2721900" cy="19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KR"/>
              <a:buChar char="●"/>
            </a:pPr>
            <a:r>
              <a:rPr lang="ko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MuJoCo 환경 세팅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KR"/>
              <a:buChar char="●"/>
            </a:pPr>
            <a:r>
              <a:rPr lang="ko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공통 학습 프레임워크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KR"/>
              <a:buChar char="●"/>
            </a:pPr>
            <a:r>
              <a:rPr lang="ko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Eval Pipeline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KR"/>
              <a:buChar char="●"/>
            </a:pPr>
            <a:r>
              <a:rPr lang="ko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시각화 자동화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KR"/>
              <a:buChar char="●"/>
            </a:pPr>
            <a:r>
              <a:rPr lang="ko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Domain Randomization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환경 구현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3226040" y="1484113"/>
            <a:ext cx="2721900" cy="26730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9" name="Google Shape;99;p16" title="free-icon-user-107711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56090" y="1554361"/>
            <a:ext cx="400375" cy="40034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6"/>
          <p:cNvSpPr txBox="1"/>
          <p:nvPr/>
        </p:nvSpPr>
        <p:spPr>
          <a:xfrm>
            <a:off x="3856465" y="1554358"/>
            <a:ext cx="1839300" cy="5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6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이희승</a:t>
            </a:r>
            <a:r>
              <a:rPr b="1" lang="ko" sz="16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(A740xx)</a:t>
            </a:r>
            <a:r>
              <a:rPr b="1" lang="ko" sz="1600">
                <a:solidFill>
                  <a:srgbClr val="861F1C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b="1" sz="1600">
              <a:solidFill>
                <a:srgbClr val="861F1C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1" name="Google Shape;101;p16"/>
          <p:cNvSpPr/>
          <p:nvPr/>
        </p:nvSpPr>
        <p:spPr>
          <a:xfrm>
            <a:off x="3228890" y="2061494"/>
            <a:ext cx="2716200" cy="20865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2" name="Google Shape;102;p16"/>
          <p:cNvSpPr txBox="1"/>
          <p:nvPr/>
        </p:nvSpPr>
        <p:spPr>
          <a:xfrm>
            <a:off x="3226050" y="2172950"/>
            <a:ext cx="2721900" cy="19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KR"/>
              <a:buChar char="●"/>
            </a:pPr>
            <a:r>
              <a:rPr lang="ko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PPO, TD3, SAC 구현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KR"/>
              <a:buChar char="●"/>
            </a:pPr>
            <a:r>
              <a:rPr lang="ko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Hyperparameter </a:t>
            </a:r>
            <a:r>
              <a:rPr lang="ko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실험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KR"/>
              <a:buChar char="●"/>
            </a:pPr>
            <a:r>
              <a:rPr lang="ko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Reward Shaping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3" name="Google Shape;103;p16"/>
          <p:cNvSpPr/>
          <p:nvPr/>
        </p:nvSpPr>
        <p:spPr>
          <a:xfrm>
            <a:off x="6069440" y="1484113"/>
            <a:ext cx="2721900" cy="26730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4" name="Google Shape;104;p16" title="free-icon-user-107711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99490" y="1554361"/>
            <a:ext cx="400375" cy="400349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6"/>
          <p:cNvSpPr txBox="1"/>
          <p:nvPr/>
        </p:nvSpPr>
        <p:spPr>
          <a:xfrm>
            <a:off x="6699865" y="1554358"/>
            <a:ext cx="1839300" cy="5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6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박민설</a:t>
            </a:r>
            <a:r>
              <a:rPr b="1" lang="ko" sz="16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(A74038)</a:t>
            </a:r>
            <a:r>
              <a:rPr b="1" lang="ko" sz="1600">
                <a:solidFill>
                  <a:srgbClr val="861F1C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b="1" sz="1600">
              <a:solidFill>
                <a:srgbClr val="861F1C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6" name="Google Shape;106;p16"/>
          <p:cNvSpPr/>
          <p:nvPr/>
        </p:nvSpPr>
        <p:spPr>
          <a:xfrm>
            <a:off x="6072290" y="2061494"/>
            <a:ext cx="2716200" cy="20865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7" name="Google Shape;107;p16"/>
          <p:cNvSpPr txBox="1"/>
          <p:nvPr/>
        </p:nvSpPr>
        <p:spPr>
          <a:xfrm>
            <a:off x="6069450" y="2172950"/>
            <a:ext cx="2721900" cy="19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KR"/>
              <a:buChar char="●"/>
            </a:pPr>
            <a:r>
              <a:rPr lang="ko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전체 결과 분석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KR"/>
              <a:buChar char="●"/>
            </a:pPr>
            <a:r>
              <a:rPr lang="ko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최종 보고서 작성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61F1C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/>
          <p:nvPr/>
        </p:nvSpPr>
        <p:spPr>
          <a:xfrm>
            <a:off x="0" y="281450"/>
            <a:ext cx="9144000" cy="456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</p:txBody>
      </p:sp>
      <p:sp>
        <p:nvSpPr>
          <p:cNvPr id="113" name="Google Shape;113;p17"/>
          <p:cNvSpPr txBox="1"/>
          <p:nvPr/>
        </p:nvSpPr>
        <p:spPr>
          <a:xfrm>
            <a:off x="2217600" y="2103300"/>
            <a:ext cx="4708800" cy="93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000">
                <a:solidFill>
                  <a:srgbClr val="861F1C"/>
                </a:solidFill>
                <a:latin typeface="Noto Sans KR"/>
                <a:ea typeface="Noto Sans KR"/>
                <a:cs typeface="Noto Sans KR"/>
                <a:sym typeface="Noto Sans KR"/>
              </a:rPr>
              <a:t>1</a:t>
            </a:r>
            <a:r>
              <a:rPr b="1" lang="ko" sz="3000">
                <a:solidFill>
                  <a:srgbClr val="861F1C"/>
                </a:solidFill>
                <a:latin typeface="Noto Sans KR"/>
                <a:ea typeface="Noto Sans KR"/>
                <a:cs typeface="Noto Sans KR"/>
                <a:sym typeface="Noto Sans KR"/>
              </a:rPr>
              <a:t>. </a:t>
            </a:r>
            <a:r>
              <a:rPr b="1" lang="ko" sz="3000">
                <a:solidFill>
                  <a:srgbClr val="861F1C"/>
                </a:solidFill>
                <a:latin typeface="Noto Sans KR"/>
                <a:ea typeface="Noto Sans KR"/>
                <a:cs typeface="Noto Sans KR"/>
                <a:sym typeface="Noto Sans KR"/>
              </a:rPr>
              <a:t>프로젝트 주제 및 목표</a:t>
            </a:r>
            <a:endParaRPr b="1" sz="3000">
              <a:solidFill>
                <a:srgbClr val="861F1C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14" name="Google Shape;114;p17" title="4. 시그니처(Signature)_가.좌우조합(기본)_국문영문.png"/>
          <p:cNvPicPr preferRelativeResize="0"/>
          <p:nvPr/>
        </p:nvPicPr>
        <p:blipFill rotWithShape="1">
          <a:blip r:embed="rId3">
            <a:alphaModFix/>
          </a:blip>
          <a:srcRect b="31637" l="21203" r="13133" t="32382"/>
          <a:stretch/>
        </p:blipFill>
        <p:spPr>
          <a:xfrm>
            <a:off x="7023175" y="360725"/>
            <a:ext cx="1839227" cy="694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61F1C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/>
          <p:nvPr/>
        </p:nvSpPr>
        <p:spPr>
          <a:xfrm>
            <a:off x="0" y="281450"/>
            <a:ext cx="9144000" cy="456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</p:txBody>
      </p:sp>
      <p:sp>
        <p:nvSpPr>
          <p:cNvPr id="120" name="Google Shape;120;p18"/>
          <p:cNvSpPr txBox="1"/>
          <p:nvPr/>
        </p:nvSpPr>
        <p:spPr>
          <a:xfrm>
            <a:off x="267975" y="451650"/>
            <a:ext cx="5427900" cy="6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500">
                <a:solidFill>
                  <a:srgbClr val="861F1C"/>
                </a:solidFill>
                <a:latin typeface="Noto Sans KR"/>
                <a:ea typeface="Noto Sans KR"/>
                <a:cs typeface="Noto Sans KR"/>
                <a:sym typeface="Noto Sans KR"/>
              </a:rPr>
              <a:t>1</a:t>
            </a:r>
            <a:r>
              <a:rPr b="1" lang="ko" sz="2500">
                <a:solidFill>
                  <a:srgbClr val="861F1C"/>
                </a:solidFill>
                <a:latin typeface="Noto Sans KR"/>
                <a:ea typeface="Noto Sans KR"/>
                <a:cs typeface="Noto Sans KR"/>
                <a:sym typeface="Noto Sans KR"/>
              </a:rPr>
              <a:t>. </a:t>
            </a:r>
            <a:r>
              <a:rPr b="1" lang="ko" sz="2500">
                <a:solidFill>
                  <a:srgbClr val="861F1C"/>
                </a:solidFill>
                <a:latin typeface="Noto Sans KR"/>
                <a:ea typeface="Noto Sans KR"/>
                <a:cs typeface="Noto Sans KR"/>
                <a:sym typeface="Noto Sans KR"/>
              </a:rPr>
              <a:t>프로젝트 주제 및 목표</a:t>
            </a:r>
            <a:endParaRPr b="1" sz="2500">
              <a:solidFill>
                <a:srgbClr val="861F1C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21" name="Google Shape;121;p18" title="4. 시그니처(Signature)_가.좌우조합(기본)_국문영문.png"/>
          <p:cNvPicPr preferRelativeResize="0"/>
          <p:nvPr/>
        </p:nvPicPr>
        <p:blipFill rotWithShape="1">
          <a:blip r:embed="rId3">
            <a:alphaModFix/>
          </a:blip>
          <a:srcRect b="31637" l="21203" r="13133" t="32382"/>
          <a:stretch/>
        </p:blipFill>
        <p:spPr>
          <a:xfrm>
            <a:off x="7023175" y="360725"/>
            <a:ext cx="1839227" cy="6948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2" name="Google Shape;122;p18"/>
          <p:cNvCxnSpPr/>
          <p:nvPr/>
        </p:nvCxnSpPr>
        <p:spPr>
          <a:xfrm flipH="1">
            <a:off x="285055" y="1047797"/>
            <a:ext cx="8640000" cy="17100"/>
          </a:xfrm>
          <a:prstGeom prst="straightConnector1">
            <a:avLst/>
          </a:prstGeom>
          <a:noFill/>
          <a:ln cap="flat" cmpd="sng" w="28575">
            <a:solidFill>
              <a:srgbClr val="861F1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3" name="Google Shape;123;p18"/>
          <p:cNvSpPr txBox="1"/>
          <p:nvPr/>
        </p:nvSpPr>
        <p:spPr>
          <a:xfrm>
            <a:off x="2237915" y="1509233"/>
            <a:ext cx="1839300" cy="5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861F1C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4" name="Google Shape;124;p18"/>
          <p:cNvSpPr/>
          <p:nvPr/>
        </p:nvSpPr>
        <p:spPr>
          <a:xfrm>
            <a:off x="2550650" y="1706732"/>
            <a:ext cx="6145200" cy="6948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600">
                <a:latin typeface="Noto Sans KR"/>
                <a:ea typeface="Noto Sans KR"/>
                <a:cs typeface="Noto Sans KR"/>
                <a:sym typeface="Noto Sans KR"/>
              </a:rPr>
              <a:t>MuJoCo </a:t>
            </a:r>
            <a:r>
              <a:rPr b="1" lang="ko" sz="1600">
                <a:latin typeface="Noto Sans KR"/>
                <a:ea typeface="Noto Sans KR"/>
                <a:cs typeface="Noto Sans KR"/>
                <a:sym typeface="Noto Sans KR"/>
              </a:rPr>
              <a:t>기반 연속 제어 환경에서</a:t>
            </a:r>
            <a:endParaRPr b="1" sz="16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600">
                <a:latin typeface="Noto Sans KR"/>
                <a:ea typeface="Noto Sans KR"/>
                <a:cs typeface="Noto Sans KR"/>
                <a:sym typeface="Noto Sans KR"/>
              </a:rPr>
              <a:t>SAC, PPO, TD3 강화학습 알고리즘의 성능 비교 및 분석</a:t>
            </a:r>
            <a:endParaRPr b="1" sz="16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5" name="Google Shape;125;p18"/>
          <p:cNvSpPr/>
          <p:nvPr/>
        </p:nvSpPr>
        <p:spPr>
          <a:xfrm>
            <a:off x="546456" y="1706732"/>
            <a:ext cx="1775100" cy="6948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6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프로젝트 주제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6" name="Google Shape;126;p18"/>
          <p:cNvSpPr txBox="1"/>
          <p:nvPr/>
        </p:nvSpPr>
        <p:spPr>
          <a:xfrm>
            <a:off x="2550650" y="2379675"/>
            <a:ext cx="502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7" name="Google Shape;127;p18"/>
          <p:cNvSpPr/>
          <p:nvPr/>
        </p:nvSpPr>
        <p:spPr>
          <a:xfrm>
            <a:off x="546456" y="2641249"/>
            <a:ext cx="1775100" cy="14388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6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프로젝트 </a:t>
            </a:r>
            <a:r>
              <a:rPr b="1" lang="ko" sz="16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차별점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8" name="Google Shape;128;p18"/>
          <p:cNvSpPr/>
          <p:nvPr/>
        </p:nvSpPr>
        <p:spPr>
          <a:xfrm>
            <a:off x="2550650" y="2641249"/>
            <a:ext cx="6145200" cy="1438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KR"/>
              <a:buChar char="❏"/>
            </a:pPr>
            <a:r>
              <a:rPr lang="ko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PyTorch 기반 알고리즘 직접 구현</a:t>
            </a:r>
            <a:endParaRPr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KR"/>
              <a:buChar char="❏"/>
            </a:pPr>
            <a:r>
              <a:rPr lang="ko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MuJoCo 물리 시뮬레이션 환경 활용</a:t>
            </a:r>
            <a:endParaRPr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KR"/>
              <a:buChar char="❏"/>
            </a:pPr>
            <a:r>
              <a:rPr lang="ko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연속 제어(Continuous Control) 문제 대상</a:t>
            </a:r>
            <a:endParaRPr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KR"/>
              <a:buChar char="❏"/>
            </a:pPr>
            <a:r>
              <a:rPr lang="ko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Reward Shaping 및 Domain Randomization 적용</a:t>
            </a:r>
            <a:endParaRPr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KR"/>
              <a:buChar char="❏"/>
            </a:pPr>
            <a:r>
              <a:rPr lang="ko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알고리즘별 성능 및 로버스트니스 비교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9" name="Google Shape;129;p18"/>
          <p:cNvSpPr txBox="1"/>
          <p:nvPr/>
        </p:nvSpPr>
        <p:spPr>
          <a:xfrm>
            <a:off x="331275" y="1107100"/>
            <a:ext cx="32544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7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1.1 프로젝트 주제 및 차별점</a:t>
            </a:r>
            <a:endParaRPr sz="1700">
              <a:solidFill>
                <a:schemeClr val="dk2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61F1C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/>
          <p:nvPr/>
        </p:nvSpPr>
        <p:spPr>
          <a:xfrm>
            <a:off x="0" y="281450"/>
            <a:ext cx="9144000" cy="456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</p:txBody>
      </p:sp>
      <p:sp>
        <p:nvSpPr>
          <p:cNvPr id="135" name="Google Shape;135;p19"/>
          <p:cNvSpPr txBox="1"/>
          <p:nvPr/>
        </p:nvSpPr>
        <p:spPr>
          <a:xfrm>
            <a:off x="267975" y="451650"/>
            <a:ext cx="5427900" cy="6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500">
                <a:solidFill>
                  <a:srgbClr val="861F1C"/>
                </a:solidFill>
                <a:latin typeface="Noto Sans KR"/>
                <a:ea typeface="Noto Sans KR"/>
                <a:cs typeface="Noto Sans KR"/>
                <a:sym typeface="Noto Sans KR"/>
              </a:rPr>
              <a:t>1. 프로젝트 주제 및 목표</a:t>
            </a:r>
            <a:endParaRPr b="1" sz="2500">
              <a:solidFill>
                <a:srgbClr val="861F1C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36" name="Google Shape;136;p19" title="4. 시그니처(Signature)_가.좌우조합(기본)_국문영문.png"/>
          <p:cNvPicPr preferRelativeResize="0"/>
          <p:nvPr/>
        </p:nvPicPr>
        <p:blipFill rotWithShape="1">
          <a:blip r:embed="rId3">
            <a:alphaModFix/>
          </a:blip>
          <a:srcRect b="31637" l="21203" r="13133" t="32382"/>
          <a:stretch/>
        </p:blipFill>
        <p:spPr>
          <a:xfrm>
            <a:off x="7023175" y="360725"/>
            <a:ext cx="1839227" cy="6948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7" name="Google Shape;137;p19"/>
          <p:cNvCxnSpPr/>
          <p:nvPr/>
        </p:nvCxnSpPr>
        <p:spPr>
          <a:xfrm flipH="1">
            <a:off x="285055" y="1040454"/>
            <a:ext cx="8640000" cy="17100"/>
          </a:xfrm>
          <a:prstGeom prst="straightConnector1">
            <a:avLst/>
          </a:prstGeom>
          <a:noFill/>
          <a:ln cap="flat" cmpd="sng" w="28575">
            <a:solidFill>
              <a:srgbClr val="861F1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8" name="Google Shape;138;p19"/>
          <p:cNvSpPr/>
          <p:nvPr/>
        </p:nvSpPr>
        <p:spPr>
          <a:xfrm>
            <a:off x="453368" y="2085527"/>
            <a:ext cx="3231300" cy="999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KR"/>
              <a:buChar char="●"/>
            </a:pPr>
            <a:r>
              <a:rPr lang="ko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SAC, PPO, TD3를 직접 구현</a:t>
            </a:r>
            <a:endParaRPr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KR"/>
              <a:buChar char="●"/>
            </a:pPr>
            <a:r>
              <a:rPr lang="ko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핵심 학습 메커니즘 분석</a:t>
            </a:r>
            <a:endParaRPr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KR"/>
              <a:buChar char="●"/>
            </a:pPr>
            <a:r>
              <a:rPr lang="ko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라이브러리 의존 없는 구조 설계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9" name="Google Shape;139;p19"/>
          <p:cNvSpPr/>
          <p:nvPr/>
        </p:nvSpPr>
        <p:spPr>
          <a:xfrm>
            <a:off x="453368" y="1664043"/>
            <a:ext cx="3231300" cy="444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500">
                <a:latin typeface="Noto Sans KR"/>
                <a:ea typeface="Noto Sans KR"/>
                <a:cs typeface="Noto Sans KR"/>
                <a:sym typeface="Noto Sans KR"/>
              </a:rPr>
              <a:t>1. 강화학습 알고리즘 구현 및 이해</a:t>
            </a:r>
            <a:endParaRPr b="1" sz="15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0" name="Google Shape;140;p19"/>
          <p:cNvSpPr/>
          <p:nvPr/>
        </p:nvSpPr>
        <p:spPr>
          <a:xfrm>
            <a:off x="2808806" y="3695651"/>
            <a:ext cx="2809500" cy="999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KR"/>
              <a:buChar char="●"/>
            </a:pPr>
            <a:r>
              <a:rPr lang="ko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커스텀 보상 함수 설계</a:t>
            </a:r>
            <a:endParaRPr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KR"/>
              <a:buChar char="●"/>
            </a:pPr>
            <a:r>
              <a:rPr lang="ko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학습 효율 변화 분석</a:t>
            </a:r>
            <a:endParaRPr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KR"/>
              <a:buChar char="●"/>
            </a:pPr>
            <a:r>
              <a:rPr lang="ko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정책 성능 개선 여부 확인</a:t>
            </a:r>
            <a:endParaRPr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1" name="Google Shape;141;p19"/>
          <p:cNvSpPr/>
          <p:nvPr/>
        </p:nvSpPr>
        <p:spPr>
          <a:xfrm>
            <a:off x="2808806" y="3274175"/>
            <a:ext cx="2809500" cy="444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500">
                <a:latin typeface="Noto Sans KR"/>
                <a:ea typeface="Noto Sans KR"/>
                <a:cs typeface="Noto Sans KR"/>
                <a:sym typeface="Noto Sans KR"/>
              </a:rPr>
              <a:t>4. Reward Shaping 효과 검증</a:t>
            </a:r>
            <a:endParaRPr b="1" sz="15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2" name="Google Shape;142;p19"/>
          <p:cNvSpPr/>
          <p:nvPr/>
        </p:nvSpPr>
        <p:spPr>
          <a:xfrm>
            <a:off x="453368" y="3695653"/>
            <a:ext cx="2278500" cy="999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KR"/>
              <a:buChar char="●"/>
            </a:pPr>
            <a:r>
              <a:rPr lang="ko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학습 수렴 속도 비교</a:t>
            </a:r>
            <a:endParaRPr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KR"/>
              <a:buChar char="●"/>
            </a:pPr>
            <a:r>
              <a:rPr lang="ko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누적 보상 분석</a:t>
            </a:r>
            <a:endParaRPr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KR"/>
              <a:buChar char="●"/>
            </a:pPr>
            <a:r>
              <a:rPr lang="ko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학습 안정성 평가</a:t>
            </a:r>
            <a:endParaRPr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3" name="Google Shape;143;p19"/>
          <p:cNvSpPr/>
          <p:nvPr/>
        </p:nvSpPr>
        <p:spPr>
          <a:xfrm>
            <a:off x="453368" y="3274175"/>
            <a:ext cx="2278500" cy="444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500">
                <a:latin typeface="Noto Sans KR"/>
                <a:ea typeface="Noto Sans KR"/>
                <a:cs typeface="Noto Sans KR"/>
                <a:sym typeface="Noto Sans KR"/>
              </a:rPr>
              <a:t>3</a:t>
            </a:r>
            <a:r>
              <a:rPr b="1" lang="ko" sz="1500">
                <a:latin typeface="Noto Sans KR"/>
                <a:ea typeface="Noto Sans KR"/>
                <a:cs typeface="Noto Sans KR"/>
                <a:sym typeface="Noto Sans KR"/>
              </a:rPr>
              <a:t>. 알고리즘 성능 비교</a:t>
            </a:r>
            <a:endParaRPr b="1" sz="15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4" name="Google Shape;144;p19"/>
          <p:cNvSpPr/>
          <p:nvPr/>
        </p:nvSpPr>
        <p:spPr>
          <a:xfrm>
            <a:off x="3863843" y="2085517"/>
            <a:ext cx="4838700" cy="999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KR"/>
              <a:buChar char="●"/>
            </a:pPr>
            <a:r>
              <a:rPr lang="ko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마찰, 질량, 중력 등 물리 파라미터 변경</a:t>
            </a:r>
            <a:endParaRPr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KR"/>
              <a:buChar char="●"/>
            </a:pPr>
            <a:r>
              <a:rPr lang="ko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환경 변화에 대한 일반화 성능 측정</a:t>
            </a:r>
            <a:endParaRPr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KR"/>
              <a:buChar char="●"/>
            </a:pPr>
            <a:r>
              <a:rPr lang="ko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알고리즘별 적응력 비교</a:t>
            </a:r>
            <a:endParaRPr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5" name="Google Shape;145;p19"/>
          <p:cNvSpPr/>
          <p:nvPr/>
        </p:nvSpPr>
        <p:spPr>
          <a:xfrm>
            <a:off x="3863843" y="1664041"/>
            <a:ext cx="4838700" cy="444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500">
                <a:latin typeface="Noto Sans KR"/>
                <a:ea typeface="Noto Sans KR"/>
                <a:cs typeface="Noto Sans KR"/>
                <a:sym typeface="Noto Sans KR"/>
              </a:rPr>
              <a:t>2</a:t>
            </a:r>
            <a:r>
              <a:rPr b="1" lang="ko" sz="1500">
                <a:latin typeface="Noto Sans KR"/>
                <a:ea typeface="Noto Sans KR"/>
                <a:cs typeface="Noto Sans KR"/>
                <a:sym typeface="Noto Sans KR"/>
              </a:rPr>
              <a:t>. Domain Randomization </a:t>
            </a:r>
            <a:r>
              <a:rPr b="1" lang="ko" sz="1500">
                <a:latin typeface="Noto Sans KR"/>
                <a:ea typeface="Noto Sans KR"/>
                <a:cs typeface="Noto Sans KR"/>
                <a:sym typeface="Noto Sans KR"/>
              </a:rPr>
              <a:t>기반 로버스트니스 평가</a:t>
            </a:r>
            <a:r>
              <a:rPr b="1" lang="ko" sz="1500">
                <a:latin typeface="Noto Sans KR"/>
                <a:ea typeface="Noto Sans KR"/>
                <a:cs typeface="Noto Sans KR"/>
                <a:sym typeface="Noto Sans KR"/>
              </a:rPr>
              <a:t>  </a:t>
            </a:r>
            <a:endParaRPr b="1" sz="15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6" name="Google Shape;146;p19"/>
          <p:cNvSpPr/>
          <p:nvPr/>
        </p:nvSpPr>
        <p:spPr>
          <a:xfrm>
            <a:off x="5701543" y="3695652"/>
            <a:ext cx="3000900" cy="999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KR"/>
              <a:buChar char="●"/>
            </a:pPr>
            <a:r>
              <a:rPr lang="ko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Multiple Random Seeds 사용</a:t>
            </a:r>
            <a:endParaRPr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KR"/>
              <a:buChar char="●"/>
            </a:pPr>
            <a:r>
              <a:rPr lang="ko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Confidence Interval </a:t>
            </a:r>
            <a:r>
              <a:rPr lang="ko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분석</a:t>
            </a:r>
            <a:endParaRPr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7" name="Google Shape;147;p19"/>
          <p:cNvSpPr/>
          <p:nvPr/>
        </p:nvSpPr>
        <p:spPr>
          <a:xfrm>
            <a:off x="5701543" y="3274175"/>
            <a:ext cx="3000900" cy="444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500">
                <a:latin typeface="Noto Sans KR"/>
                <a:ea typeface="Noto Sans KR"/>
                <a:cs typeface="Noto Sans KR"/>
                <a:sym typeface="Noto Sans KR"/>
              </a:rPr>
              <a:t>5</a:t>
            </a:r>
            <a:r>
              <a:rPr b="1" lang="ko" sz="1500">
                <a:latin typeface="Noto Sans KR"/>
                <a:ea typeface="Noto Sans KR"/>
                <a:cs typeface="Noto Sans KR"/>
                <a:sym typeface="Noto Sans KR"/>
              </a:rPr>
              <a:t>. </a:t>
            </a:r>
            <a:r>
              <a:rPr b="1" lang="ko" sz="1500">
                <a:latin typeface="Noto Sans KR"/>
                <a:ea typeface="Noto Sans KR"/>
                <a:cs typeface="Noto Sans KR"/>
                <a:sym typeface="Noto Sans KR"/>
              </a:rPr>
              <a:t>신뢰성 있는 실험 결과 도출</a:t>
            </a:r>
            <a:endParaRPr b="1" sz="15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8" name="Google Shape;148;p19"/>
          <p:cNvSpPr txBox="1"/>
          <p:nvPr/>
        </p:nvSpPr>
        <p:spPr>
          <a:xfrm>
            <a:off x="331275" y="1107095"/>
            <a:ext cx="20193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7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1</a:t>
            </a:r>
            <a:r>
              <a:rPr b="1" lang="ko" sz="17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.2 </a:t>
            </a:r>
            <a:r>
              <a:rPr b="1" lang="ko" sz="17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프로젝트 목표</a:t>
            </a:r>
            <a:endParaRPr sz="1700">
              <a:solidFill>
                <a:schemeClr val="dk2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61F1C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0"/>
          <p:cNvSpPr/>
          <p:nvPr/>
        </p:nvSpPr>
        <p:spPr>
          <a:xfrm>
            <a:off x="0" y="281450"/>
            <a:ext cx="9144000" cy="456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</p:txBody>
      </p:sp>
      <p:sp>
        <p:nvSpPr>
          <p:cNvPr id="154" name="Google Shape;154;p20"/>
          <p:cNvSpPr txBox="1"/>
          <p:nvPr/>
        </p:nvSpPr>
        <p:spPr>
          <a:xfrm>
            <a:off x="2685150" y="2262500"/>
            <a:ext cx="3773700" cy="6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000">
                <a:solidFill>
                  <a:srgbClr val="861F1C"/>
                </a:solidFill>
                <a:latin typeface="Noto Sans KR"/>
                <a:ea typeface="Noto Sans KR"/>
                <a:cs typeface="Noto Sans KR"/>
                <a:sym typeface="Noto Sans KR"/>
              </a:rPr>
              <a:t>2. 환경 및 데이터셋</a:t>
            </a:r>
            <a:endParaRPr b="1" sz="3000">
              <a:solidFill>
                <a:srgbClr val="861F1C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55" name="Google Shape;155;p20" title="4. 시그니처(Signature)_가.좌우조합(기본)_국문영문.png"/>
          <p:cNvPicPr preferRelativeResize="0"/>
          <p:nvPr/>
        </p:nvPicPr>
        <p:blipFill rotWithShape="1">
          <a:blip r:embed="rId3">
            <a:alphaModFix/>
          </a:blip>
          <a:srcRect b="31637" l="21203" r="13133" t="32382"/>
          <a:stretch/>
        </p:blipFill>
        <p:spPr>
          <a:xfrm>
            <a:off x="7023175" y="360725"/>
            <a:ext cx="1839227" cy="694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61F1C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1"/>
          <p:cNvSpPr/>
          <p:nvPr/>
        </p:nvSpPr>
        <p:spPr>
          <a:xfrm>
            <a:off x="0" y="281450"/>
            <a:ext cx="9144000" cy="456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</p:txBody>
      </p:sp>
      <p:sp>
        <p:nvSpPr>
          <p:cNvPr id="161" name="Google Shape;161;p21"/>
          <p:cNvSpPr txBox="1"/>
          <p:nvPr/>
        </p:nvSpPr>
        <p:spPr>
          <a:xfrm>
            <a:off x="267975" y="451650"/>
            <a:ext cx="5427900" cy="6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500">
                <a:solidFill>
                  <a:srgbClr val="861F1C"/>
                </a:solidFill>
                <a:latin typeface="Noto Sans KR"/>
                <a:ea typeface="Noto Sans KR"/>
                <a:cs typeface="Noto Sans KR"/>
                <a:sym typeface="Noto Sans KR"/>
              </a:rPr>
              <a:t>2. 환경 및 데이터셋</a:t>
            </a:r>
            <a:endParaRPr b="1" sz="2500">
              <a:solidFill>
                <a:srgbClr val="861F1C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62" name="Google Shape;162;p21" title="4. 시그니처(Signature)_가.좌우조합(기본)_국문영문.png"/>
          <p:cNvPicPr preferRelativeResize="0"/>
          <p:nvPr/>
        </p:nvPicPr>
        <p:blipFill rotWithShape="1">
          <a:blip r:embed="rId3">
            <a:alphaModFix/>
          </a:blip>
          <a:srcRect b="31637" l="21203" r="13133" t="32382"/>
          <a:stretch/>
        </p:blipFill>
        <p:spPr>
          <a:xfrm>
            <a:off x="7023175" y="360725"/>
            <a:ext cx="1839227" cy="6948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3" name="Google Shape;163;p21"/>
          <p:cNvCxnSpPr/>
          <p:nvPr/>
        </p:nvCxnSpPr>
        <p:spPr>
          <a:xfrm flipH="1">
            <a:off x="285055" y="1038388"/>
            <a:ext cx="8640000" cy="17100"/>
          </a:xfrm>
          <a:prstGeom prst="straightConnector1">
            <a:avLst/>
          </a:prstGeom>
          <a:noFill/>
          <a:ln cap="flat" cmpd="sng" w="28575">
            <a:solidFill>
              <a:srgbClr val="861F1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4" name="Google Shape;164;p21"/>
          <p:cNvSpPr txBox="1"/>
          <p:nvPr/>
        </p:nvSpPr>
        <p:spPr>
          <a:xfrm>
            <a:off x="2550650" y="2379675"/>
            <a:ext cx="502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165" name="Google Shape;165;p21"/>
          <p:cNvGraphicFramePr/>
          <p:nvPr/>
        </p:nvGraphicFramePr>
        <p:xfrm>
          <a:off x="952500" y="1741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{09EA0B3D-F3DF-47C0-8B46-3B483F88BA2D}</a:tableStyleId>
              </a:tblPr>
              <a:tblGrid>
                <a:gridCol w="2413000"/>
                <a:gridCol w="2143125"/>
                <a:gridCol w="26828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구분</a:t>
                      </a:r>
                      <a:endParaRPr b="1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사용 기술</a:t>
                      </a:r>
                      <a:endParaRPr b="1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목적</a:t>
                      </a:r>
                      <a:endParaRPr b="1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Programming Language</a:t>
                      </a: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Python 3.10+ </a:t>
                      </a: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강화학습 알고리즘 개발 </a:t>
                      </a: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Deep Learning Framework </a:t>
                      </a: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PyTorch 2.x </a:t>
                      </a: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신경망 및 정책 학습 구현 </a:t>
                      </a: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RL Environment </a:t>
                      </a: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Gymnasium 1.x </a:t>
                      </a: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MuJoCo 환경 인터페이스 제공</a:t>
                      </a: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Physics Simulator </a:t>
                      </a: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MuJoCo 3.x </a:t>
                      </a: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연속 제어 물리 시뮬레이션 </a:t>
                      </a: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Data Analysis </a:t>
                      </a: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NumPy, Matplotlib </a:t>
                      </a: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실험 결과 분석 및 시각화 </a:t>
                      </a: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Experiment Tracking </a:t>
                      </a: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Weights &amp; Biases (선택) </a:t>
                      </a: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학습 로그 및 성능 추적 </a:t>
                      </a: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6" name="Google Shape;166;p21"/>
          <p:cNvSpPr txBox="1"/>
          <p:nvPr/>
        </p:nvSpPr>
        <p:spPr>
          <a:xfrm>
            <a:off x="331275" y="1107095"/>
            <a:ext cx="20193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7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2</a:t>
            </a:r>
            <a:r>
              <a:rPr b="1" lang="ko" sz="17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.1 </a:t>
            </a:r>
            <a:r>
              <a:rPr b="1" lang="ko" sz="17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개발 환경</a:t>
            </a:r>
            <a:endParaRPr sz="1700">
              <a:solidFill>
                <a:schemeClr val="dk2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61F1C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2"/>
          <p:cNvSpPr/>
          <p:nvPr/>
        </p:nvSpPr>
        <p:spPr>
          <a:xfrm>
            <a:off x="0" y="281450"/>
            <a:ext cx="9144000" cy="456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2" name="Google Shape;172;p22"/>
          <p:cNvSpPr txBox="1"/>
          <p:nvPr/>
        </p:nvSpPr>
        <p:spPr>
          <a:xfrm>
            <a:off x="267975" y="451650"/>
            <a:ext cx="5427900" cy="6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500">
                <a:solidFill>
                  <a:srgbClr val="861F1C"/>
                </a:solidFill>
                <a:latin typeface="Noto Sans KR"/>
                <a:ea typeface="Noto Sans KR"/>
                <a:cs typeface="Noto Sans KR"/>
                <a:sym typeface="Noto Sans KR"/>
              </a:rPr>
              <a:t>2. 환경 및 데이터셋</a:t>
            </a:r>
            <a:endParaRPr b="1" sz="2500">
              <a:solidFill>
                <a:srgbClr val="861F1C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73" name="Google Shape;173;p22" title="4. 시그니처(Signature)_가.좌우조합(기본)_국문영문.png"/>
          <p:cNvPicPr preferRelativeResize="0"/>
          <p:nvPr/>
        </p:nvPicPr>
        <p:blipFill rotWithShape="1">
          <a:blip r:embed="rId3">
            <a:alphaModFix/>
          </a:blip>
          <a:srcRect b="31637" l="21203" r="13133" t="32382"/>
          <a:stretch/>
        </p:blipFill>
        <p:spPr>
          <a:xfrm>
            <a:off x="7023175" y="360725"/>
            <a:ext cx="1839227" cy="6948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4" name="Google Shape;174;p22"/>
          <p:cNvCxnSpPr/>
          <p:nvPr/>
        </p:nvCxnSpPr>
        <p:spPr>
          <a:xfrm flipH="1">
            <a:off x="285055" y="1038388"/>
            <a:ext cx="8640000" cy="17100"/>
          </a:xfrm>
          <a:prstGeom prst="straightConnector1">
            <a:avLst/>
          </a:prstGeom>
          <a:noFill/>
          <a:ln cap="flat" cmpd="sng" w="28575">
            <a:solidFill>
              <a:srgbClr val="861F1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5" name="Google Shape;175;p22"/>
          <p:cNvSpPr txBox="1"/>
          <p:nvPr/>
        </p:nvSpPr>
        <p:spPr>
          <a:xfrm>
            <a:off x="1859495" y="1621659"/>
            <a:ext cx="24165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6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“</a:t>
            </a:r>
            <a:r>
              <a:rPr b="1" lang="ko" sz="16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Humanoid-v5”</a:t>
            </a:r>
            <a:endParaRPr b="1" sz="1600">
              <a:solidFill>
                <a:schemeClr val="dk2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6" name="Google Shape;176;p22"/>
          <p:cNvSpPr txBox="1"/>
          <p:nvPr/>
        </p:nvSpPr>
        <p:spPr>
          <a:xfrm>
            <a:off x="382245" y="1621659"/>
            <a:ext cx="10722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2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7" name="Google Shape;177;p22"/>
          <p:cNvSpPr txBox="1"/>
          <p:nvPr/>
        </p:nvSpPr>
        <p:spPr>
          <a:xfrm>
            <a:off x="1864411" y="2182476"/>
            <a:ext cx="24165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인간형 로봇 보행 제어</a:t>
            </a:r>
            <a:endParaRPr sz="1600">
              <a:solidFill>
                <a:schemeClr val="dk2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8" name="Google Shape;178;p22"/>
          <p:cNvSpPr txBox="1"/>
          <p:nvPr/>
        </p:nvSpPr>
        <p:spPr>
          <a:xfrm>
            <a:off x="1864403" y="2688493"/>
            <a:ext cx="6079200" cy="50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고차원 상태 공간, 복잡한 동역학, 학습 난이도 높음</a:t>
            </a:r>
            <a:endParaRPr sz="1600">
              <a:solidFill>
                <a:schemeClr val="dk2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9" name="Google Shape;179;p22"/>
          <p:cNvSpPr txBox="1"/>
          <p:nvPr/>
        </p:nvSpPr>
        <p:spPr>
          <a:xfrm>
            <a:off x="1859500" y="3329784"/>
            <a:ext cx="64473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KR"/>
              <a:buChar char="●"/>
            </a:pPr>
            <a:r>
              <a:rPr lang="ko" sz="16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대표적인 Continuous Control 벤치마크</a:t>
            </a:r>
            <a:endParaRPr sz="16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KR"/>
              <a:buChar char="●"/>
            </a:pPr>
            <a:r>
              <a:rPr lang="ko" sz="16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고차원 상태∙행동 공간 제공</a:t>
            </a:r>
            <a:endParaRPr sz="16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KR"/>
              <a:buChar char="●"/>
            </a:pPr>
            <a:r>
              <a:rPr lang="ko" sz="16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SAC, PPO, TD3 성능 차이를 명확하게 관찰 가능</a:t>
            </a:r>
            <a:endParaRPr sz="16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KR"/>
              <a:buChar char="●"/>
            </a:pPr>
            <a:r>
              <a:rPr lang="ko" sz="16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Reward Shaping 및 Domain Randomization 효과 검증에 적합</a:t>
            </a:r>
            <a:endParaRPr sz="16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0" name="Google Shape;180;p22"/>
          <p:cNvSpPr txBox="1"/>
          <p:nvPr/>
        </p:nvSpPr>
        <p:spPr>
          <a:xfrm>
            <a:off x="331275" y="1107095"/>
            <a:ext cx="20193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7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2.2 </a:t>
            </a:r>
            <a:r>
              <a:rPr b="1" lang="ko" sz="17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실험 </a:t>
            </a:r>
            <a:r>
              <a:rPr b="1" lang="ko" sz="17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환경</a:t>
            </a:r>
            <a:endParaRPr sz="1700">
              <a:solidFill>
                <a:schemeClr val="dk2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1" name="Google Shape;181;p22"/>
          <p:cNvSpPr/>
          <p:nvPr/>
        </p:nvSpPr>
        <p:spPr>
          <a:xfrm>
            <a:off x="594325" y="1621655"/>
            <a:ext cx="1202700" cy="4332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6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실험 환경</a:t>
            </a:r>
            <a:endParaRPr sz="16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2" name="Google Shape;182;p22"/>
          <p:cNvSpPr/>
          <p:nvPr/>
        </p:nvSpPr>
        <p:spPr>
          <a:xfrm>
            <a:off x="594325" y="2188330"/>
            <a:ext cx="1202700" cy="4332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6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Task</a:t>
            </a:r>
            <a:endParaRPr sz="16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3" name="Google Shape;183;p22"/>
          <p:cNvSpPr/>
          <p:nvPr/>
        </p:nvSpPr>
        <p:spPr>
          <a:xfrm>
            <a:off x="594325" y="2743305"/>
            <a:ext cx="1202700" cy="4332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6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특징</a:t>
            </a:r>
            <a:endParaRPr sz="16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4" name="Google Shape;184;p22"/>
          <p:cNvSpPr/>
          <p:nvPr/>
        </p:nvSpPr>
        <p:spPr>
          <a:xfrm>
            <a:off x="594325" y="3298284"/>
            <a:ext cx="1202700" cy="12066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6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환경</a:t>
            </a:r>
            <a:endParaRPr b="1" sz="16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6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선택 이유</a:t>
            </a:r>
            <a:endParaRPr b="1" sz="16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61F1C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3"/>
          <p:cNvSpPr/>
          <p:nvPr/>
        </p:nvSpPr>
        <p:spPr>
          <a:xfrm>
            <a:off x="0" y="281450"/>
            <a:ext cx="9144000" cy="456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</p:txBody>
      </p:sp>
      <p:sp>
        <p:nvSpPr>
          <p:cNvPr id="190" name="Google Shape;190;p23"/>
          <p:cNvSpPr txBox="1"/>
          <p:nvPr/>
        </p:nvSpPr>
        <p:spPr>
          <a:xfrm>
            <a:off x="1884750" y="1988250"/>
            <a:ext cx="5374500" cy="11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000">
                <a:solidFill>
                  <a:srgbClr val="861F1C"/>
                </a:solidFill>
                <a:latin typeface="Noto Sans KR"/>
                <a:ea typeface="Noto Sans KR"/>
                <a:cs typeface="Noto Sans KR"/>
                <a:sym typeface="Noto Sans KR"/>
              </a:rPr>
              <a:t>3. State-Action-Reward 설계</a:t>
            </a:r>
            <a:endParaRPr b="1" sz="3000">
              <a:solidFill>
                <a:srgbClr val="861F1C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91" name="Google Shape;191;p23" title="4. 시그니처(Signature)_가.좌우조합(기본)_국문영문.png"/>
          <p:cNvPicPr preferRelativeResize="0"/>
          <p:nvPr/>
        </p:nvPicPr>
        <p:blipFill rotWithShape="1">
          <a:blip r:embed="rId3">
            <a:alphaModFix/>
          </a:blip>
          <a:srcRect b="31637" l="21203" r="13133" t="32382"/>
          <a:stretch/>
        </p:blipFill>
        <p:spPr>
          <a:xfrm>
            <a:off x="7023175" y="360725"/>
            <a:ext cx="1839227" cy="694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61F1C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4"/>
          <p:cNvSpPr/>
          <p:nvPr/>
        </p:nvSpPr>
        <p:spPr>
          <a:xfrm>
            <a:off x="361450" y="1649275"/>
            <a:ext cx="4093200" cy="43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4"/>
          <p:cNvSpPr/>
          <p:nvPr/>
        </p:nvSpPr>
        <p:spPr>
          <a:xfrm>
            <a:off x="0" y="281450"/>
            <a:ext cx="9144000" cy="456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8" name="Google Shape;198;p24"/>
          <p:cNvSpPr txBox="1"/>
          <p:nvPr/>
        </p:nvSpPr>
        <p:spPr>
          <a:xfrm>
            <a:off x="267975" y="451650"/>
            <a:ext cx="5427900" cy="6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500">
                <a:solidFill>
                  <a:srgbClr val="861F1C"/>
                </a:solidFill>
                <a:latin typeface="Noto Sans KR"/>
                <a:ea typeface="Noto Sans KR"/>
                <a:cs typeface="Noto Sans KR"/>
                <a:sym typeface="Noto Sans KR"/>
              </a:rPr>
              <a:t>3. State-Action-Reward 설계</a:t>
            </a:r>
            <a:endParaRPr b="1" sz="2500">
              <a:solidFill>
                <a:srgbClr val="861F1C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99" name="Google Shape;199;p24" title="4. 시그니처(Signature)_가.좌우조합(기본)_국문영문.png"/>
          <p:cNvPicPr preferRelativeResize="0"/>
          <p:nvPr/>
        </p:nvPicPr>
        <p:blipFill rotWithShape="1">
          <a:blip r:embed="rId3">
            <a:alphaModFix/>
          </a:blip>
          <a:srcRect b="31637" l="21203" r="13133" t="32382"/>
          <a:stretch/>
        </p:blipFill>
        <p:spPr>
          <a:xfrm>
            <a:off x="7023175" y="360725"/>
            <a:ext cx="1839227" cy="6948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0" name="Google Shape;200;p24"/>
          <p:cNvCxnSpPr/>
          <p:nvPr/>
        </p:nvCxnSpPr>
        <p:spPr>
          <a:xfrm flipH="1">
            <a:off x="285055" y="1053252"/>
            <a:ext cx="8640000" cy="17100"/>
          </a:xfrm>
          <a:prstGeom prst="straightConnector1">
            <a:avLst/>
          </a:prstGeom>
          <a:noFill/>
          <a:ln cap="flat" cmpd="sng" w="28575">
            <a:solidFill>
              <a:srgbClr val="861F1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1" name="Google Shape;201;p24"/>
          <p:cNvSpPr txBox="1"/>
          <p:nvPr/>
        </p:nvSpPr>
        <p:spPr>
          <a:xfrm>
            <a:off x="331275" y="1107095"/>
            <a:ext cx="20193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7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3.1 State 설계</a:t>
            </a:r>
            <a:endParaRPr sz="1700">
              <a:solidFill>
                <a:schemeClr val="dk2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2" name="Google Shape;202;p24"/>
          <p:cNvSpPr txBox="1"/>
          <p:nvPr/>
        </p:nvSpPr>
        <p:spPr>
          <a:xfrm>
            <a:off x="428025" y="2812396"/>
            <a:ext cx="34053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KR"/>
              <a:buChar char="❏"/>
            </a:pPr>
            <a:r>
              <a:rPr b="1" lang="ko" sz="16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원시 상태 정보(348-Dim)</a:t>
            </a:r>
            <a:endParaRPr sz="1600">
              <a:solidFill>
                <a:schemeClr val="dk2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3" name="Google Shape;203;p24"/>
          <p:cNvSpPr txBox="1"/>
          <p:nvPr/>
        </p:nvSpPr>
        <p:spPr>
          <a:xfrm>
            <a:off x="478000" y="3206946"/>
            <a:ext cx="3405300" cy="14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KR"/>
              <a:buChar char="●"/>
            </a:pPr>
            <a:r>
              <a:rPr lang="ko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Torso Height (신체 높이) 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KR"/>
              <a:buChar char="●"/>
            </a:pPr>
            <a:r>
              <a:rPr lang="ko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Body Orientation (Quaternion) 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KR"/>
              <a:buChar char="●"/>
            </a:pPr>
            <a:r>
              <a:rPr lang="ko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Joint Positions 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KR"/>
              <a:buChar char="●"/>
            </a:pPr>
            <a:r>
              <a:rPr lang="ko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Joint Velocities 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KR"/>
              <a:buChar char="●"/>
            </a:pPr>
            <a:r>
              <a:rPr lang="ko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Contact Forces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4" name="Google Shape;204;p24"/>
          <p:cNvSpPr txBox="1"/>
          <p:nvPr/>
        </p:nvSpPr>
        <p:spPr>
          <a:xfrm>
            <a:off x="4187793" y="1642537"/>
            <a:ext cx="24537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KR"/>
              <a:buChar char="❏"/>
            </a:pPr>
            <a:r>
              <a:rPr b="1" lang="ko" sz="16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주요 상태 변수</a:t>
            </a:r>
            <a:endParaRPr sz="1600">
              <a:solidFill>
                <a:schemeClr val="dk2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205" name="Google Shape;205;p24"/>
          <p:cNvGraphicFramePr/>
          <p:nvPr/>
        </p:nvGraphicFramePr>
        <p:xfrm>
          <a:off x="4321920" y="20806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{09EA0B3D-F3DF-47C0-8B46-3B483F88BA2D}</a:tableStyleId>
              </a:tblPr>
              <a:tblGrid>
                <a:gridCol w="1534375"/>
                <a:gridCol w="1534375"/>
                <a:gridCol w="1534375"/>
              </a:tblGrid>
              <a:tr h="378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변수</a:t>
                      </a:r>
                      <a:endParaRPr b="1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의미</a:t>
                      </a:r>
                      <a:endParaRPr b="1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활용</a:t>
                      </a:r>
                      <a:endParaRPr b="1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7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torso z-height</a:t>
                      </a: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로봇 높이</a:t>
                      </a: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낙상 여부 판단</a:t>
                      </a: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quaternion</a:t>
                      </a: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몸체 기울기</a:t>
                      </a: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직립도 계산</a:t>
                      </a: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joint positions</a:t>
                      </a: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관절 각도</a:t>
                      </a: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자세 제어</a:t>
                      </a: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joint velocities</a:t>
                      </a:r>
                      <a:r>
                        <a:rPr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관절 속도</a:t>
                      </a: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동작 제어</a:t>
                      </a: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contact forces</a:t>
                      </a: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발 접촉 정보</a:t>
                      </a: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보행 안정성</a:t>
                      </a: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6" name="Google Shape;206;p24"/>
          <p:cNvSpPr txBox="1"/>
          <p:nvPr/>
        </p:nvSpPr>
        <p:spPr>
          <a:xfrm>
            <a:off x="428025" y="1690522"/>
            <a:ext cx="34053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KR"/>
              <a:buChar char="❏"/>
            </a:pPr>
            <a:r>
              <a:rPr b="1" lang="ko" sz="16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State 정의</a:t>
            </a:r>
            <a:endParaRPr b="1" sz="16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7" name="Google Shape;207;p24"/>
          <p:cNvSpPr txBox="1"/>
          <p:nvPr/>
        </p:nvSpPr>
        <p:spPr>
          <a:xfrm>
            <a:off x="478000" y="2039425"/>
            <a:ext cx="37098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4CCCC"/>
                </a:highlight>
                <a:latin typeface="Noto Sans KR"/>
                <a:ea typeface="Noto Sans KR"/>
                <a:cs typeface="Noto Sans KR"/>
                <a:sym typeface="Noto Sans KR"/>
              </a:rPr>
              <a:t>에이전트가 현재 환경 상태를 인식하기 위해 관측하는 정보</a:t>
            </a:r>
            <a:endParaRPr sz="1500">
              <a:solidFill>
                <a:schemeClr val="dk1"/>
              </a:solidFill>
              <a:highlight>
                <a:srgbClr val="F4CCCC"/>
              </a:highlight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61F1C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5"/>
          <p:cNvSpPr/>
          <p:nvPr/>
        </p:nvSpPr>
        <p:spPr>
          <a:xfrm>
            <a:off x="361450" y="1649275"/>
            <a:ext cx="4093200" cy="43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5"/>
          <p:cNvSpPr/>
          <p:nvPr/>
        </p:nvSpPr>
        <p:spPr>
          <a:xfrm>
            <a:off x="0" y="281450"/>
            <a:ext cx="9144000" cy="456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14" name="Google Shape;214;p25"/>
          <p:cNvSpPr txBox="1"/>
          <p:nvPr/>
        </p:nvSpPr>
        <p:spPr>
          <a:xfrm>
            <a:off x="267975" y="451650"/>
            <a:ext cx="5427900" cy="6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500">
                <a:solidFill>
                  <a:srgbClr val="861F1C"/>
                </a:solidFill>
                <a:latin typeface="Noto Sans KR"/>
                <a:ea typeface="Noto Sans KR"/>
                <a:cs typeface="Noto Sans KR"/>
                <a:sym typeface="Noto Sans KR"/>
              </a:rPr>
              <a:t>3. State-Action-Reward 설계</a:t>
            </a:r>
            <a:endParaRPr b="1" sz="2500">
              <a:solidFill>
                <a:srgbClr val="861F1C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215" name="Google Shape;215;p25" title="4. 시그니처(Signature)_가.좌우조합(기본)_국문영문.png"/>
          <p:cNvPicPr preferRelativeResize="0"/>
          <p:nvPr/>
        </p:nvPicPr>
        <p:blipFill rotWithShape="1">
          <a:blip r:embed="rId3">
            <a:alphaModFix/>
          </a:blip>
          <a:srcRect b="31637" l="21203" r="13133" t="32382"/>
          <a:stretch/>
        </p:blipFill>
        <p:spPr>
          <a:xfrm>
            <a:off x="7023175" y="360725"/>
            <a:ext cx="1839227" cy="6948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6" name="Google Shape;216;p25"/>
          <p:cNvCxnSpPr/>
          <p:nvPr/>
        </p:nvCxnSpPr>
        <p:spPr>
          <a:xfrm flipH="1">
            <a:off x="285055" y="1053252"/>
            <a:ext cx="8640000" cy="17100"/>
          </a:xfrm>
          <a:prstGeom prst="straightConnector1">
            <a:avLst/>
          </a:prstGeom>
          <a:noFill/>
          <a:ln cap="flat" cmpd="sng" w="28575">
            <a:solidFill>
              <a:srgbClr val="861F1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7" name="Google Shape;217;p25"/>
          <p:cNvSpPr txBox="1"/>
          <p:nvPr/>
        </p:nvSpPr>
        <p:spPr>
          <a:xfrm>
            <a:off x="331275" y="1107095"/>
            <a:ext cx="20193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7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3.1 State 설계</a:t>
            </a:r>
            <a:endParaRPr sz="1700">
              <a:solidFill>
                <a:schemeClr val="dk2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18" name="Google Shape;218;p25"/>
          <p:cNvSpPr txBox="1"/>
          <p:nvPr/>
        </p:nvSpPr>
        <p:spPr>
          <a:xfrm>
            <a:off x="416050" y="1516938"/>
            <a:ext cx="34053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KR"/>
              <a:buChar char="❏"/>
            </a:pPr>
            <a:r>
              <a:rPr b="1" lang="ko" sz="16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Observation Normalization</a:t>
            </a:r>
            <a:endParaRPr sz="1600">
              <a:solidFill>
                <a:schemeClr val="dk2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19" name="Google Shape;219;p25"/>
          <p:cNvSpPr txBox="1"/>
          <p:nvPr/>
        </p:nvSpPr>
        <p:spPr>
          <a:xfrm>
            <a:off x="549800" y="1865850"/>
            <a:ext cx="3354300" cy="28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1. </a:t>
            </a:r>
            <a:r>
              <a:rPr lang="ko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목적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KR"/>
              <a:buChar char="●"/>
            </a:pPr>
            <a:r>
              <a:rPr lang="ko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상태 분포 안정화</a:t>
            </a:r>
            <a:r>
              <a:rPr lang="ko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KR"/>
              <a:buChar char="●"/>
            </a:pPr>
            <a:r>
              <a:rPr lang="ko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학습 수렴 속도 향상</a:t>
            </a:r>
            <a:r>
              <a:rPr lang="ko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KR"/>
              <a:buChar char="●"/>
            </a:pPr>
            <a:r>
              <a:rPr lang="ko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알고리즘 학습 안정성 개선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2. 적용 방법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Raw Observation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→ Running Mean Update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→ </a:t>
            </a:r>
            <a:r>
              <a:rPr lang="ko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(obs - mean) / std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→ </a:t>
            </a:r>
            <a:r>
              <a:rPr lang="ko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Normalized Observation 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20" name="Google Shape;220;p25"/>
          <p:cNvSpPr txBox="1"/>
          <p:nvPr/>
        </p:nvSpPr>
        <p:spPr>
          <a:xfrm>
            <a:off x="4619875" y="1468950"/>
            <a:ext cx="35361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KR"/>
              <a:buChar char="❏"/>
            </a:pPr>
            <a:r>
              <a:rPr b="1" lang="ko" sz="16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Uprightness Feature 활용</a:t>
            </a:r>
            <a:endParaRPr sz="1600">
              <a:solidFill>
                <a:schemeClr val="dk2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21" name="Google Shape;221;p25"/>
          <p:cNvSpPr txBox="1"/>
          <p:nvPr/>
        </p:nvSpPr>
        <p:spPr>
          <a:xfrm>
            <a:off x="4903175" y="2751775"/>
            <a:ext cx="3585000" cy="20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1. </a:t>
            </a:r>
            <a:r>
              <a:rPr lang="ko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의미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KR"/>
              <a:buChar char="●"/>
            </a:pPr>
            <a:r>
              <a:rPr lang="ko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1</a:t>
            </a:r>
            <a:r>
              <a:rPr lang="ko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에 가까울수록 직립 상태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KR"/>
              <a:buChar char="●"/>
            </a:pPr>
            <a:r>
              <a:rPr lang="ko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0 이하로 갈수록 크게 기울어진 상태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2. 활용 목적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KR"/>
              <a:buChar char="●"/>
            </a:pPr>
            <a:r>
              <a:rPr lang="ko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Reward Shaping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KR"/>
              <a:buChar char="●"/>
            </a:pPr>
            <a:r>
              <a:rPr lang="ko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균형 유지 보상 설계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22" name="Google Shape;222;p25"/>
          <p:cNvSpPr txBox="1"/>
          <p:nvPr/>
        </p:nvSpPr>
        <p:spPr>
          <a:xfrm>
            <a:off x="4903175" y="1823575"/>
            <a:ext cx="3585000" cy="9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Quaternion 정보로 로봇의 직립 정도 계산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torso_upright = 1 - 2(qx² + qy²)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61F1C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6"/>
          <p:cNvSpPr/>
          <p:nvPr/>
        </p:nvSpPr>
        <p:spPr>
          <a:xfrm>
            <a:off x="361450" y="1649275"/>
            <a:ext cx="4093200" cy="43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6"/>
          <p:cNvSpPr/>
          <p:nvPr/>
        </p:nvSpPr>
        <p:spPr>
          <a:xfrm>
            <a:off x="0" y="281450"/>
            <a:ext cx="9144000" cy="456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29" name="Google Shape;229;p26"/>
          <p:cNvSpPr txBox="1"/>
          <p:nvPr/>
        </p:nvSpPr>
        <p:spPr>
          <a:xfrm>
            <a:off x="267975" y="451650"/>
            <a:ext cx="5427900" cy="6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500">
                <a:solidFill>
                  <a:srgbClr val="861F1C"/>
                </a:solidFill>
                <a:latin typeface="Noto Sans KR"/>
                <a:ea typeface="Noto Sans KR"/>
                <a:cs typeface="Noto Sans KR"/>
                <a:sym typeface="Noto Sans KR"/>
              </a:rPr>
              <a:t>3. State-Action-Reward 설계</a:t>
            </a:r>
            <a:endParaRPr b="1" sz="2500">
              <a:solidFill>
                <a:srgbClr val="861F1C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230" name="Google Shape;230;p26" title="4. 시그니처(Signature)_가.좌우조합(기본)_국문영문.png"/>
          <p:cNvPicPr preferRelativeResize="0"/>
          <p:nvPr/>
        </p:nvPicPr>
        <p:blipFill rotWithShape="1">
          <a:blip r:embed="rId3">
            <a:alphaModFix/>
          </a:blip>
          <a:srcRect b="31637" l="21203" r="13133" t="32382"/>
          <a:stretch/>
        </p:blipFill>
        <p:spPr>
          <a:xfrm>
            <a:off x="7023175" y="360725"/>
            <a:ext cx="1839227" cy="6948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1" name="Google Shape;231;p26"/>
          <p:cNvCxnSpPr/>
          <p:nvPr/>
        </p:nvCxnSpPr>
        <p:spPr>
          <a:xfrm flipH="1">
            <a:off x="285055" y="1053252"/>
            <a:ext cx="8640000" cy="17100"/>
          </a:xfrm>
          <a:prstGeom prst="straightConnector1">
            <a:avLst/>
          </a:prstGeom>
          <a:noFill/>
          <a:ln cap="flat" cmpd="sng" w="28575">
            <a:solidFill>
              <a:srgbClr val="861F1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2" name="Google Shape;232;p26"/>
          <p:cNvSpPr txBox="1"/>
          <p:nvPr/>
        </p:nvSpPr>
        <p:spPr>
          <a:xfrm>
            <a:off x="331275" y="1107095"/>
            <a:ext cx="20193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7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3.2 Action 설계</a:t>
            </a:r>
            <a:endParaRPr sz="1700">
              <a:solidFill>
                <a:schemeClr val="dk2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33" name="Google Shape;233;p26"/>
          <p:cNvSpPr txBox="1"/>
          <p:nvPr/>
        </p:nvSpPr>
        <p:spPr>
          <a:xfrm>
            <a:off x="4644593" y="1642519"/>
            <a:ext cx="24537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KR"/>
              <a:buChar char="❏"/>
            </a:pPr>
            <a:r>
              <a:rPr b="1" lang="ko" sz="16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주요 </a:t>
            </a:r>
            <a:r>
              <a:rPr b="1" lang="ko" sz="16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제어 관절</a:t>
            </a:r>
            <a:endParaRPr sz="1600">
              <a:solidFill>
                <a:schemeClr val="dk2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234" name="Google Shape;234;p26"/>
          <p:cNvGraphicFramePr/>
          <p:nvPr/>
        </p:nvGraphicFramePr>
        <p:xfrm>
          <a:off x="4791870" y="20944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{09EA0B3D-F3DF-47C0-8B46-3B483F88BA2D}</a:tableStyleId>
              </a:tblPr>
              <a:tblGrid>
                <a:gridCol w="1588225"/>
                <a:gridCol w="1588225"/>
              </a:tblGrid>
              <a:tr h="380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3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관절</a:t>
                      </a:r>
                      <a:endParaRPr b="1"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3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역할</a:t>
                      </a:r>
                      <a:endParaRPr b="1"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80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Hip(Left/Right)</a:t>
                      </a:r>
                      <a:endParaRPr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다리 전후 스윙</a:t>
                      </a:r>
                      <a:endParaRPr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0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Knee(Left/Right)</a:t>
                      </a:r>
                      <a:endParaRPr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보행 추진력 생성</a:t>
                      </a:r>
                      <a:endParaRPr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0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Ankle</a:t>
                      </a:r>
                      <a:endParaRPr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착지 및 균형 유지</a:t>
                      </a:r>
                      <a:endParaRPr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0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Shoulder</a:t>
                      </a:r>
                      <a:endParaRPr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팔 역상 운동</a:t>
                      </a:r>
                      <a:endParaRPr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0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Abdomen</a:t>
                      </a:r>
                      <a:endParaRPr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몸통 안정화</a:t>
                      </a:r>
                      <a:endParaRPr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5" name="Google Shape;235;p26"/>
          <p:cNvSpPr txBox="1"/>
          <p:nvPr/>
        </p:nvSpPr>
        <p:spPr>
          <a:xfrm>
            <a:off x="428025" y="1690522"/>
            <a:ext cx="34053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KR"/>
              <a:buChar char="❏"/>
            </a:pPr>
            <a:r>
              <a:rPr b="1" lang="ko" sz="16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Action </a:t>
            </a:r>
            <a:r>
              <a:rPr b="1" lang="ko" sz="16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정의</a:t>
            </a:r>
            <a:endParaRPr b="1" sz="16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36" name="Google Shape;236;p26"/>
          <p:cNvSpPr txBox="1"/>
          <p:nvPr/>
        </p:nvSpPr>
        <p:spPr>
          <a:xfrm>
            <a:off x="478000" y="2039425"/>
            <a:ext cx="3709800" cy="4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4CCCC"/>
                </a:highlight>
                <a:latin typeface="Noto Sans KR"/>
                <a:ea typeface="Noto Sans KR"/>
                <a:cs typeface="Noto Sans KR"/>
                <a:sym typeface="Noto Sans KR"/>
              </a:rPr>
              <a:t>각 관절에 가해지는 토크(Torque) 제어 신호</a:t>
            </a:r>
            <a:endParaRPr sz="1500">
              <a:solidFill>
                <a:schemeClr val="dk1"/>
              </a:solidFill>
              <a:highlight>
                <a:srgbClr val="F4CCCC"/>
              </a:highlight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37" name="Google Shape;237;p26"/>
          <p:cNvSpPr txBox="1"/>
          <p:nvPr/>
        </p:nvSpPr>
        <p:spPr>
          <a:xfrm>
            <a:off x="453026" y="2472050"/>
            <a:ext cx="3882000" cy="14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KR"/>
              <a:buChar char="●"/>
            </a:pPr>
            <a:r>
              <a:rPr lang="ko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Action Dimension: 17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KR"/>
              <a:buChar char="●"/>
            </a:pPr>
            <a:r>
              <a:rPr lang="ko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각 차원은 하나의 관절 Actuator에 대응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KR"/>
              <a:buChar char="●"/>
            </a:pPr>
            <a:r>
              <a:rPr lang="ko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값의 범위: [-0.4, 0.4]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KR"/>
              <a:buChar char="●"/>
            </a:pPr>
            <a:r>
              <a:rPr lang="ko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양수/음수에 따라 관절 회전 방향 결정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KR"/>
              <a:buChar char="●"/>
            </a:pPr>
            <a:r>
              <a:rPr lang="ko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절대값이 클수록 더 큰 토크가 적용됨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238" name="Google Shape;238;p26" title="스크린샷 2026-06-03 14454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8938" y="5349750"/>
            <a:ext cx="4703676" cy="194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61F1C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7"/>
          <p:cNvSpPr/>
          <p:nvPr/>
        </p:nvSpPr>
        <p:spPr>
          <a:xfrm>
            <a:off x="0" y="281450"/>
            <a:ext cx="9144000" cy="456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</p:txBody>
      </p:sp>
      <p:sp>
        <p:nvSpPr>
          <p:cNvPr id="244" name="Google Shape;244;p27"/>
          <p:cNvSpPr txBox="1"/>
          <p:nvPr/>
        </p:nvSpPr>
        <p:spPr>
          <a:xfrm>
            <a:off x="267975" y="451650"/>
            <a:ext cx="5427900" cy="6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500">
                <a:solidFill>
                  <a:srgbClr val="861F1C"/>
                </a:solidFill>
                <a:latin typeface="Noto Sans KR"/>
                <a:ea typeface="Noto Sans KR"/>
                <a:cs typeface="Noto Sans KR"/>
                <a:sym typeface="Noto Sans KR"/>
              </a:rPr>
              <a:t>3. State-Action-Reward 설계</a:t>
            </a:r>
            <a:endParaRPr b="1" sz="2500">
              <a:solidFill>
                <a:srgbClr val="861F1C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245" name="Google Shape;245;p27" title="4. 시그니처(Signature)_가.좌우조합(기본)_국문영문.png"/>
          <p:cNvPicPr preferRelativeResize="0"/>
          <p:nvPr/>
        </p:nvPicPr>
        <p:blipFill rotWithShape="1">
          <a:blip r:embed="rId3">
            <a:alphaModFix/>
          </a:blip>
          <a:srcRect b="31637" l="21203" r="13133" t="32382"/>
          <a:stretch/>
        </p:blipFill>
        <p:spPr>
          <a:xfrm>
            <a:off x="7023175" y="360725"/>
            <a:ext cx="1839227" cy="6948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6" name="Google Shape;246;p27"/>
          <p:cNvCxnSpPr/>
          <p:nvPr/>
        </p:nvCxnSpPr>
        <p:spPr>
          <a:xfrm flipH="1">
            <a:off x="285055" y="1053252"/>
            <a:ext cx="8640000" cy="17100"/>
          </a:xfrm>
          <a:prstGeom prst="straightConnector1">
            <a:avLst/>
          </a:prstGeom>
          <a:noFill/>
          <a:ln cap="flat" cmpd="sng" w="28575">
            <a:solidFill>
              <a:srgbClr val="861F1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7" name="Google Shape;247;p27"/>
          <p:cNvSpPr txBox="1"/>
          <p:nvPr/>
        </p:nvSpPr>
        <p:spPr>
          <a:xfrm>
            <a:off x="2550650" y="2379675"/>
            <a:ext cx="502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8" name="Google Shape;248;p27"/>
          <p:cNvSpPr txBox="1"/>
          <p:nvPr/>
        </p:nvSpPr>
        <p:spPr>
          <a:xfrm>
            <a:off x="331275" y="1121938"/>
            <a:ext cx="20193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3.2 Action 설계</a:t>
            </a:r>
            <a:endParaRPr sz="1700">
              <a:solidFill>
                <a:schemeClr val="dk2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49" name="Google Shape;249;p27"/>
          <p:cNvSpPr txBox="1"/>
          <p:nvPr/>
        </p:nvSpPr>
        <p:spPr>
          <a:xfrm>
            <a:off x="401854" y="1618450"/>
            <a:ext cx="34170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KR"/>
              <a:buChar char="❏"/>
            </a:pPr>
            <a:r>
              <a:rPr b="1" lang="ko" sz="16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알고리즘별 Action 생성 방식</a:t>
            </a:r>
            <a:endParaRPr sz="1600">
              <a:solidFill>
                <a:schemeClr val="dk2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250" name="Google Shape;250;p27"/>
          <p:cNvGraphicFramePr/>
          <p:nvPr/>
        </p:nvGraphicFramePr>
        <p:xfrm>
          <a:off x="549116" y="209596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{09EA0B3D-F3DF-47C0-8B46-3B483F88BA2D}</a:tableStyleId>
              </a:tblPr>
              <a:tblGrid>
                <a:gridCol w="1555275"/>
                <a:gridCol w="2403300"/>
                <a:gridCol w="1979275"/>
              </a:tblGrid>
              <a:tr h="378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알고리즘</a:t>
                      </a:r>
                      <a:endParaRPr b="1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출력 방식</a:t>
                      </a:r>
                      <a:endParaRPr b="1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최종 범위</a:t>
                      </a:r>
                      <a:endParaRPr b="1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78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PPO</a:t>
                      </a: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Gaussian Policy</a:t>
                      </a: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MuJoCo 내부 Clipping</a:t>
                      </a: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SAC</a:t>
                      </a: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tanh Squashing</a:t>
                      </a: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[-0.4, 0.4]</a:t>
                      </a: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TD3</a:t>
                      </a: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tanh + Exploration Noise</a:t>
                      </a: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[-0.4, 0.4]</a:t>
                      </a: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61F1C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8"/>
          <p:cNvSpPr/>
          <p:nvPr/>
        </p:nvSpPr>
        <p:spPr>
          <a:xfrm>
            <a:off x="0" y="281450"/>
            <a:ext cx="9144000" cy="456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</p:txBody>
      </p:sp>
      <p:sp>
        <p:nvSpPr>
          <p:cNvPr id="256" name="Google Shape;256;p28"/>
          <p:cNvSpPr txBox="1"/>
          <p:nvPr/>
        </p:nvSpPr>
        <p:spPr>
          <a:xfrm>
            <a:off x="267975" y="451650"/>
            <a:ext cx="5427900" cy="6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500">
                <a:solidFill>
                  <a:srgbClr val="861F1C"/>
                </a:solidFill>
                <a:latin typeface="Noto Sans KR"/>
                <a:ea typeface="Noto Sans KR"/>
                <a:cs typeface="Noto Sans KR"/>
                <a:sym typeface="Noto Sans KR"/>
              </a:rPr>
              <a:t>3. State-Action-Reward 설계</a:t>
            </a:r>
            <a:endParaRPr b="1" sz="2500">
              <a:solidFill>
                <a:srgbClr val="861F1C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257" name="Google Shape;257;p28" title="4. 시그니처(Signature)_가.좌우조합(기본)_국문영문.png"/>
          <p:cNvPicPr preferRelativeResize="0"/>
          <p:nvPr/>
        </p:nvPicPr>
        <p:blipFill rotWithShape="1">
          <a:blip r:embed="rId3">
            <a:alphaModFix/>
          </a:blip>
          <a:srcRect b="31637" l="21203" r="13133" t="32382"/>
          <a:stretch/>
        </p:blipFill>
        <p:spPr>
          <a:xfrm>
            <a:off x="7023175" y="360725"/>
            <a:ext cx="1839227" cy="6948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8" name="Google Shape;258;p28"/>
          <p:cNvCxnSpPr/>
          <p:nvPr/>
        </p:nvCxnSpPr>
        <p:spPr>
          <a:xfrm flipH="1">
            <a:off x="285055" y="1053252"/>
            <a:ext cx="8640000" cy="17100"/>
          </a:xfrm>
          <a:prstGeom prst="straightConnector1">
            <a:avLst/>
          </a:prstGeom>
          <a:noFill/>
          <a:ln cap="flat" cmpd="sng" w="28575">
            <a:solidFill>
              <a:srgbClr val="861F1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9" name="Google Shape;259;p28"/>
          <p:cNvSpPr txBox="1"/>
          <p:nvPr/>
        </p:nvSpPr>
        <p:spPr>
          <a:xfrm>
            <a:off x="331275" y="1121938"/>
            <a:ext cx="20193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3.3 Reward 설계</a:t>
            </a:r>
            <a:endParaRPr sz="1700">
              <a:solidFill>
                <a:schemeClr val="dk2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60" name="Google Shape;260;p28"/>
          <p:cNvSpPr txBox="1"/>
          <p:nvPr/>
        </p:nvSpPr>
        <p:spPr>
          <a:xfrm>
            <a:off x="428025" y="1690522"/>
            <a:ext cx="34053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KR"/>
              <a:buChar char="❏"/>
            </a:pPr>
            <a:r>
              <a:rPr b="1" lang="ko" sz="16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MuJoCo 기본 Reward</a:t>
            </a:r>
            <a:endParaRPr b="1" sz="16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61" name="Google Shape;261;p28"/>
          <p:cNvSpPr txBox="1"/>
          <p:nvPr/>
        </p:nvSpPr>
        <p:spPr>
          <a:xfrm>
            <a:off x="478000" y="2039425"/>
            <a:ext cx="5604300" cy="4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Reward = Healthy Reward + Forward Reward - Control Cost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262" name="Google Shape;262;p28"/>
          <p:cNvGraphicFramePr/>
          <p:nvPr/>
        </p:nvGraphicFramePr>
        <p:xfrm>
          <a:off x="561091" y="257176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{09EA0B3D-F3DF-47C0-8B46-3B483F88BA2D}</a:tableStyleId>
              </a:tblPr>
              <a:tblGrid>
                <a:gridCol w="1555275"/>
                <a:gridCol w="2406725"/>
                <a:gridCol w="2406725"/>
              </a:tblGrid>
              <a:tr h="378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구성 요소</a:t>
                      </a:r>
                      <a:endParaRPr b="1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의미</a:t>
                      </a:r>
                      <a:endParaRPr b="1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목적</a:t>
                      </a:r>
                      <a:endParaRPr b="1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78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Healthy Reward</a:t>
                      </a: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균형 유지 보상</a:t>
                      </a: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균형 유지</a:t>
                      </a: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Forward Reward</a:t>
                      </a: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전진 속도 보상</a:t>
                      </a: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빠르게 이동</a:t>
                      </a: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Control Cost</a:t>
                      </a: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과도한 Torque 사용 패널티</a:t>
                      </a: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불필요한 에너지 사용 최소화</a:t>
                      </a: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61F1C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9"/>
          <p:cNvSpPr/>
          <p:nvPr/>
        </p:nvSpPr>
        <p:spPr>
          <a:xfrm>
            <a:off x="0" y="281450"/>
            <a:ext cx="9144000" cy="456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</p:txBody>
      </p:sp>
      <p:sp>
        <p:nvSpPr>
          <p:cNvPr id="268" name="Google Shape;268;p29"/>
          <p:cNvSpPr txBox="1"/>
          <p:nvPr/>
        </p:nvSpPr>
        <p:spPr>
          <a:xfrm>
            <a:off x="267975" y="451650"/>
            <a:ext cx="5427900" cy="6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500">
                <a:solidFill>
                  <a:srgbClr val="861F1C"/>
                </a:solidFill>
                <a:latin typeface="Noto Sans KR"/>
                <a:ea typeface="Noto Sans KR"/>
                <a:cs typeface="Noto Sans KR"/>
                <a:sym typeface="Noto Sans KR"/>
              </a:rPr>
              <a:t>3. State-Action-Reward 설계</a:t>
            </a:r>
            <a:endParaRPr b="1" sz="2500">
              <a:solidFill>
                <a:srgbClr val="861F1C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269" name="Google Shape;269;p29" title="4. 시그니처(Signature)_가.좌우조합(기본)_국문영문.png"/>
          <p:cNvPicPr preferRelativeResize="0"/>
          <p:nvPr/>
        </p:nvPicPr>
        <p:blipFill rotWithShape="1">
          <a:blip r:embed="rId3">
            <a:alphaModFix/>
          </a:blip>
          <a:srcRect b="31637" l="21203" r="13133" t="32382"/>
          <a:stretch/>
        </p:blipFill>
        <p:spPr>
          <a:xfrm>
            <a:off x="7023175" y="360725"/>
            <a:ext cx="1839227" cy="6948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0" name="Google Shape;270;p29"/>
          <p:cNvCxnSpPr/>
          <p:nvPr/>
        </p:nvCxnSpPr>
        <p:spPr>
          <a:xfrm flipH="1">
            <a:off x="285055" y="1053252"/>
            <a:ext cx="8640000" cy="17100"/>
          </a:xfrm>
          <a:prstGeom prst="straightConnector1">
            <a:avLst/>
          </a:prstGeom>
          <a:noFill/>
          <a:ln cap="flat" cmpd="sng" w="28575">
            <a:solidFill>
              <a:srgbClr val="861F1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1" name="Google Shape;271;p29"/>
          <p:cNvSpPr txBox="1"/>
          <p:nvPr/>
        </p:nvSpPr>
        <p:spPr>
          <a:xfrm>
            <a:off x="331275" y="1121938"/>
            <a:ext cx="20193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3.3 Reward 설계</a:t>
            </a:r>
            <a:endParaRPr sz="1700">
              <a:solidFill>
                <a:schemeClr val="dk2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72" name="Google Shape;272;p29"/>
          <p:cNvSpPr txBox="1"/>
          <p:nvPr/>
        </p:nvSpPr>
        <p:spPr>
          <a:xfrm>
            <a:off x="428025" y="1690522"/>
            <a:ext cx="34053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KR"/>
              <a:buChar char="❏"/>
            </a:pPr>
            <a:r>
              <a:rPr b="1" lang="ko" sz="16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Custom</a:t>
            </a:r>
            <a:r>
              <a:rPr b="1" lang="ko" sz="16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Reward Shaping</a:t>
            </a:r>
            <a:endParaRPr b="1" sz="16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73" name="Google Shape;273;p29"/>
          <p:cNvSpPr txBox="1"/>
          <p:nvPr/>
        </p:nvSpPr>
        <p:spPr>
          <a:xfrm>
            <a:off x="523450" y="2111225"/>
            <a:ext cx="3833100" cy="17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기본 Reward만 사용할 경우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KR"/>
              <a:buChar char="●"/>
            </a:pPr>
            <a:r>
              <a:rPr lang="ko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비효율적인 보행 패턴 발생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KR"/>
              <a:buChar char="●"/>
            </a:pPr>
            <a:r>
              <a:rPr lang="ko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자세 불안정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KR"/>
              <a:buChar char="●"/>
            </a:pPr>
            <a:r>
              <a:rPr lang="ko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자연스러운 달리기 동작 학습 어려움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→ 보행 특성을 반영한 추가 Reward 설계함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74" name="Google Shape;274;p29"/>
          <p:cNvSpPr txBox="1"/>
          <p:nvPr/>
        </p:nvSpPr>
        <p:spPr>
          <a:xfrm>
            <a:off x="4355254" y="1122667"/>
            <a:ext cx="24537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KR"/>
              <a:buChar char="❏"/>
            </a:pPr>
            <a:r>
              <a:rPr b="1" lang="ko" sz="16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설계 요소</a:t>
            </a:r>
            <a:endParaRPr sz="1600">
              <a:solidFill>
                <a:schemeClr val="dk2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275" name="Google Shape;275;p29"/>
          <p:cNvGraphicFramePr/>
          <p:nvPr/>
        </p:nvGraphicFramePr>
        <p:xfrm>
          <a:off x="4556230" y="156755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{09EA0B3D-F3DF-47C0-8B46-3B483F88BA2D}</a:tableStyleId>
              </a:tblPr>
              <a:tblGrid>
                <a:gridCol w="2144275"/>
                <a:gridCol w="2144275"/>
              </a:tblGrid>
              <a:tr h="402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항목</a:t>
                      </a:r>
                      <a:endParaRPr b="1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목적</a:t>
                      </a:r>
                      <a:endParaRPr b="1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402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Velocity Bonus</a:t>
                      </a: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빠른 전진 유도</a:t>
                      </a: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Uprightness Bonus</a:t>
                      </a: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직립 자세 유지</a:t>
                      </a: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Hip Alternation Bonus</a:t>
                      </a: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좌우 다리 교차 보행</a:t>
                      </a: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Knee Usage Bonus</a:t>
                      </a: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적극적인 무릎 활용</a:t>
                      </a: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Arm Swing Bonus</a:t>
                      </a: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자연스러운 팔 스윙</a:t>
                      </a: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Y-axis Penalty</a:t>
                      </a: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직진 보행 유도</a:t>
                      </a: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Shuffle Penalty</a:t>
                      </a: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제자리 걸음 방지</a:t>
                      </a: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61F1C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0"/>
          <p:cNvSpPr/>
          <p:nvPr/>
        </p:nvSpPr>
        <p:spPr>
          <a:xfrm>
            <a:off x="0" y="281450"/>
            <a:ext cx="9144000" cy="456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</p:txBody>
      </p:sp>
      <p:sp>
        <p:nvSpPr>
          <p:cNvPr id="281" name="Google Shape;281;p30"/>
          <p:cNvSpPr txBox="1"/>
          <p:nvPr/>
        </p:nvSpPr>
        <p:spPr>
          <a:xfrm>
            <a:off x="267975" y="451650"/>
            <a:ext cx="5427900" cy="6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500">
                <a:solidFill>
                  <a:srgbClr val="861F1C"/>
                </a:solidFill>
                <a:latin typeface="Noto Sans KR"/>
                <a:ea typeface="Noto Sans KR"/>
                <a:cs typeface="Noto Sans KR"/>
                <a:sym typeface="Noto Sans KR"/>
              </a:rPr>
              <a:t>3. State-Action-Reward 설계</a:t>
            </a:r>
            <a:endParaRPr b="1" sz="2500">
              <a:solidFill>
                <a:srgbClr val="861F1C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282" name="Google Shape;282;p30" title="4. 시그니처(Signature)_가.좌우조합(기본)_국문영문.png"/>
          <p:cNvPicPr preferRelativeResize="0"/>
          <p:nvPr/>
        </p:nvPicPr>
        <p:blipFill rotWithShape="1">
          <a:blip r:embed="rId3">
            <a:alphaModFix/>
          </a:blip>
          <a:srcRect b="31637" l="21203" r="13133" t="32382"/>
          <a:stretch/>
        </p:blipFill>
        <p:spPr>
          <a:xfrm>
            <a:off x="7023175" y="360725"/>
            <a:ext cx="1839227" cy="6948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3" name="Google Shape;283;p30"/>
          <p:cNvCxnSpPr/>
          <p:nvPr/>
        </p:nvCxnSpPr>
        <p:spPr>
          <a:xfrm flipH="1">
            <a:off x="285055" y="1053252"/>
            <a:ext cx="8640000" cy="17100"/>
          </a:xfrm>
          <a:prstGeom prst="straightConnector1">
            <a:avLst/>
          </a:prstGeom>
          <a:noFill/>
          <a:ln cap="flat" cmpd="sng" w="28575">
            <a:solidFill>
              <a:srgbClr val="861F1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4" name="Google Shape;284;p30"/>
          <p:cNvSpPr txBox="1"/>
          <p:nvPr/>
        </p:nvSpPr>
        <p:spPr>
          <a:xfrm>
            <a:off x="283401" y="1121938"/>
            <a:ext cx="20193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3.3 Reward 설계</a:t>
            </a:r>
            <a:endParaRPr sz="1700">
              <a:solidFill>
                <a:schemeClr val="dk2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85" name="Google Shape;285;p30"/>
          <p:cNvSpPr txBox="1"/>
          <p:nvPr/>
        </p:nvSpPr>
        <p:spPr>
          <a:xfrm>
            <a:off x="293125" y="1618450"/>
            <a:ext cx="2937600" cy="5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KR"/>
              <a:buChar char="❏"/>
            </a:pPr>
            <a:r>
              <a:rPr b="1" lang="ko" sz="16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최종 Reward Function</a:t>
            </a:r>
            <a:endParaRPr b="1" sz="16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6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(Run Forward)</a:t>
            </a:r>
            <a:endParaRPr b="1" sz="16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86" name="Google Shape;286;p30"/>
          <p:cNvSpPr txBox="1"/>
          <p:nvPr/>
        </p:nvSpPr>
        <p:spPr>
          <a:xfrm>
            <a:off x="267975" y="2111200"/>
            <a:ext cx="4116000" cy="15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KR"/>
              <a:buChar char="●"/>
            </a:pPr>
            <a:r>
              <a:rPr lang="ko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달리기 특화 Reward 함수 설계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KR"/>
              <a:buChar char="●"/>
            </a:pPr>
            <a:r>
              <a:rPr lang="ko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기본 MuJoCo Reward만 사용하면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단순히 넘어지지 않고 앞으로 가는 정책 학습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KR"/>
              <a:buChar char="●"/>
            </a:pPr>
            <a:r>
              <a:rPr lang="ko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인간과 유사한 자연스러운 달리기 동작을 유도하기 위해 Reward Shaping 적용함 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pSp>
        <p:nvGrpSpPr>
          <p:cNvPr id="287" name="Google Shape;287;p30"/>
          <p:cNvGrpSpPr/>
          <p:nvPr/>
        </p:nvGrpSpPr>
        <p:grpSpPr>
          <a:xfrm>
            <a:off x="4335024" y="1177700"/>
            <a:ext cx="4739700" cy="3557100"/>
            <a:chOff x="4287150" y="1177700"/>
            <a:chExt cx="4739700" cy="3557100"/>
          </a:xfrm>
        </p:grpSpPr>
        <p:sp>
          <p:nvSpPr>
            <p:cNvPr id="288" name="Google Shape;288;p30"/>
            <p:cNvSpPr/>
            <p:nvPr/>
          </p:nvSpPr>
          <p:spPr>
            <a:xfrm>
              <a:off x="4287150" y="1177700"/>
              <a:ext cx="4739700" cy="3557100"/>
            </a:xfrm>
            <a:prstGeom prst="rect">
              <a:avLst/>
            </a:prstGeom>
            <a:solidFill>
              <a:srgbClr val="FCE5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30"/>
            <p:cNvSpPr/>
            <p:nvPr/>
          </p:nvSpPr>
          <p:spPr>
            <a:xfrm>
              <a:off x="5398644" y="1856902"/>
              <a:ext cx="2322000" cy="4449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>
                  <a:latin typeface="Noto Sans KR"/>
                  <a:ea typeface="Noto Sans KR"/>
                  <a:cs typeface="Noto Sans KR"/>
                  <a:sym typeface="Noto Sans KR"/>
                </a:rPr>
                <a:t>MuJoCo Base Reward</a:t>
              </a:r>
              <a:endParaRPr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290" name="Google Shape;290;p30"/>
            <p:cNvSpPr/>
            <p:nvPr/>
          </p:nvSpPr>
          <p:spPr>
            <a:xfrm>
              <a:off x="4391694" y="2631115"/>
              <a:ext cx="4563300" cy="1395000"/>
            </a:xfrm>
            <a:prstGeom prst="rect">
              <a:avLst/>
            </a:prstGeom>
            <a:solidFill>
              <a:srgbClr val="CCCC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30"/>
            <p:cNvSpPr txBox="1"/>
            <p:nvPr/>
          </p:nvSpPr>
          <p:spPr>
            <a:xfrm>
              <a:off x="6098844" y="1221939"/>
              <a:ext cx="921600" cy="34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Reward</a:t>
              </a:r>
              <a:endParaRPr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292" name="Google Shape;292;p30"/>
            <p:cNvSpPr/>
            <p:nvPr/>
          </p:nvSpPr>
          <p:spPr>
            <a:xfrm>
              <a:off x="4450044" y="2714689"/>
              <a:ext cx="948600" cy="3489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ko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Velocity</a:t>
              </a:r>
              <a:endParaRPr/>
            </a:p>
          </p:txBody>
        </p:sp>
        <p:sp>
          <p:nvSpPr>
            <p:cNvPr id="293" name="Google Shape;293;p30"/>
            <p:cNvSpPr/>
            <p:nvPr/>
          </p:nvSpPr>
          <p:spPr>
            <a:xfrm>
              <a:off x="5536469" y="2714689"/>
              <a:ext cx="1351200" cy="3489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ko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Uprightness</a:t>
              </a:r>
              <a:endParaRPr/>
            </a:p>
          </p:txBody>
        </p:sp>
        <p:sp>
          <p:nvSpPr>
            <p:cNvPr id="294" name="Google Shape;294;p30"/>
            <p:cNvSpPr/>
            <p:nvPr/>
          </p:nvSpPr>
          <p:spPr>
            <a:xfrm>
              <a:off x="7025494" y="2714689"/>
              <a:ext cx="1582200" cy="3489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Hip Alternation</a:t>
              </a:r>
              <a:endParaRPr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295" name="Google Shape;295;p30"/>
            <p:cNvSpPr/>
            <p:nvPr/>
          </p:nvSpPr>
          <p:spPr>
            <a:xfrm>
              <a:off x="4450044" y="3149464"/>
              <a:ext cx="1249500" cy="3489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ko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Knee Usage</a:t>
              </a:r>
              <a:endParaRPr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296" name="Google Shape;296;p30"/>
            <p:cNvSpPr/>
            <p:nvPr/>
          </p:nvSpPr>
          <p:spPr>
            <a:xfrm>
              <a:off x="5800269" y="3149464"/>
              <a:ext cx="1249500" cy="3489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Arm Swing</a:t>
              </a:r>
              <a:endParaRPr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297" name="Google Shape;297;p30"/>
            <p:cNvSpPr/>
            <p:nvPr/>
          </p:nvSpPr>
          <p:spPr>
            <a:xfrm>
              <a:off x="7139520" y="3149464"/>
              <a:ext cx="1747200" cy="3489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Direction Control</a:t>
              </a:r>
              <a:endParaRPr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298" name="Google Shape;298;p30"/>
            <p:cNvSpPr/>
            <p:nvPr/>
          </p:nvSpPr>
          <p:spPr>
            <a:xfrm>
              <a:off x="4450044" y="3584239"/>
              <a:ext cx="1528800" cy="3489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ko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Y-axis Penalty</a:t>
              </a:r>
              <a:endParaRPr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299" name="Google Shape;299;p30"/>
            <p:cNvSpPr/>
            <p:nvPr/>
          </p:nvSpPr>
          <p:spPr>
            <a:xfrm>
              <a:off x="6098844" y="3584239"/>
              <a:ext cx="1528800" cy="3489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Shuffle Penalty</a:t>
              </a:r>
              <a:endParaRPr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cxnSp>
          <p:nvCxnSpPr>
            <p:cNvPr id="300" name="Google Shape;300;p30"/>
            <p:cNvCxnSpPr>
              <a:stCxn id="291" idx="2"/>
              <a:endCxn id="289" idx="0"/>
            </p:cNvCxnSpPr>
            <p:nvPr/>
          </p:nvCxnSpPr>
          <p:spPr>
            <a:xfrm>
              <a:off x="6559644" y="1570839"/>
              <a:ext cx="0" cy="2862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01" name="Google Shape;301;p30"/>
            <p:cNvCxnSpPr/>
            <p:nvPr/>
          </p:nvCxnSpPr>
          <p:spPr>
            <a:xfrm>
              <a:off x="6559644" y="2342614"/>
              <a:ext cx="0" cy="2862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02" name="Google Shape;302;p30"/>
            <p:cNvCxnSpPr/>
            <p:nvPr/>
          </p:nvCxnSpPr>
          <p:spPr>
            <a:xfrm>
              <a:off x="6559644" y="4086839"/>
              <a:ext cx="0" cy="2862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03" name="Google Shape;303;p30"/>
            <p:cNvSpPr txBox="1"/>
            <p:nvPr/>
          </p:nvSpPr>
          <p:spPr>
            <a:xfrm>
              <a:off x="5491644" y="4385890"/>
              <a:ext cx="2322000" cy="34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Run Forward Reward</a:t>
              </a:r>
              <a:endParaRPr b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61F1C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1"/>
          <p:cNvSpPr/>
          <p:nvPr/>
        </p:nvSpPr>
        <p:spPr>
          <a:xfrm>
            <a:off x="0" y="281450"/>
            <a:ext cx="9144000" cy="456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</p:txBody>
      </p:sp>
      <p:sp>
        <p:nvSpPr>
          <p:cNvPr id="309" name="Google Shape;309;p31"/>
          <p:cNvSpPr txBox="1"/>
          <p:nvPr/>
        </p:nvSpPr>
        <p:spPr>
          <a:xfrm>
            <a:off x="267975" y="451650"/>
            <a:ext cx="5427900" cy="6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500">
                <a:solidFill>
                  <a:srgbClr val="861F1C"/>
                </a:solidFill>
                <a:latin typeface="Noto Sans KR"/>
                <a:ea typeface="Noto Sans KR"/>
                <a:cs typeface="Noto Sans KR"/>
                <a:sym typeface="Noto Sans KR"/>
              </a:rPr>
              <a:t>3. State-Action-Reward 설계</a:t>
            </a:r>
            <a:endParaRPr b="1" sz="2500">
              <a:solidFill>
                <a:srgbClr val="861F1C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310" name="Google Shape;310;p31" title="4. 시그니처(Signature)_가.좌우조합(기본)_국문영문.png"/>
          <p:cNvPicPr preferRelativeResize="0"/>
          <p:nvPr/>
        </p:nvPicPr>
        <p:blipFill rotWithShape="1">
          <a:blip r:embed="rId3">
            <a:alphaModFix/>
          </a:blip>
          <a:srcRect b="31637" l="21203" r="13133" t="32382"/>
          <a:stretch/>
        </p:blipFill>
        <p:spPr>
          <a:xfrm>
            <a:off x="7023175" y="360725"/>
            <a:ext cx="1839227" cy="6948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1" name="Google Shape;311;p31"/>
          <p:cNvCxnSpPr/>
          <p:nvPr/>
        </p:nvCxnSpPr>
        <p:spPr>
          <a:xfrm flipH="1">
            <a:off x="285055" y="1053252"/>
            <a:ext cx="8640000" cy="17100"/>
          </a:xfrm>
          <a:prstGeom prst="straightConnector1">
            <a:avLst/>
          </a:prstGeom>
          <a:noFill/>
          <a:ln cap="flat" cmpd="sng" w="28575">
            <a:solidFill>
              <a:srgbClr val="861F1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2" name="Google Shape;312;p31"/>
          <p:cNvSpPr/>
          <p:nvPr/>
        </p:nvSpPr>
        <p:spPr>
          <a:xfrm>
            <a:off x="505917" y="1561315"/>
            <a:ext cx="2262000" cy="2524800"/>
          </a:xfrm>
          <a:prstGeom prst="rect">
            <a:avLst/>
          </a:prstGeom>
          <a:solidFill>
            <a:schemeClr val="lt1"/>
          </a:solidFill>
          <a:ln cap="flat" cmpd="sng" w="10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525" lIns="103525" spcFirstLastPara="1" rIns="103525" wrap="square" tIns="103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13" name="Google Shape;313;p31"/>
          <p:cNvSpPr/>
          <p:nvPr/>
        </p:nvSpPr>
        <p:spPr>
          <a:xfrm>
            <a:off x="507497" y="1563690"/>
            <a:ext cx="2262000" cy="352200"/>
          </a:xfrm>
          <a:prstGeom prst="rect">
            <a:avLst/>
          </a:prstGeom>
          <a:solidFill>
            <a:srgbClr val="A4C2F4"/>
          </a:solidFill>
          <a:ln cap="flat" cmpd="sng" w="10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525" lIns="103525" spcFirstLastPara="1" rIns="103525" wrap="square" tIns="103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585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State</a:t>
            </a:r>
            <a:endParaRPr b="1" sz="1585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14" name="Google Shape;314;p31"/>
          <p:cNvSpPr txBox="1"/>
          <p:nvPr/>
        </p:nvSpPr>
        <p:spPr>
          <a:xfrm>
            <a:off x="507492" y="1915890"/>
            <a:ext cx="2262000" cy="3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현재 관측(Observation)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315" name="Google Shape;315;p31"/>
          <p:cNvSpPr/>
          <p:nvPr/>
        </p:nvSpPr>
        <p:spPr>
          <a:xfrm>
            <a:off x="1020167" y="2268090"/>
            <a:ext cx="1235100" cy="285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몸체 높이</a:t>
            </a:r>
            <a:endParaRPr/>
          </a:p>
        </p:txBody>
      </p:sp>
      <p:sp>
        <p:nvSpPr>
          <p:cNvPr id="316" name="Google Shape;316;p31"/>
          <p:cNvSpPr/>
          <p:nvPr/>
        </p:nvSpPr>
        <p:spPr>
          <a:xfrm>
            <a:off x="1020167" y="2626515"/>
            <a:ext cx="1235100" cy="285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몸체 방향</a:t>
            </a:r>
            <a:endParaRPr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17" name="Google Shape;317;p31"/>
          <p:cNvSpPr/>
          <p:nvPr/>
        </p:nvSpPr>
        <p:spPr>
          <a:xfrm>
            <a:off x="1020942" y="2984940"/>
            <a:ext cx="1235100" cy="285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관절 각도</a:t>
            </a:r>
            <a:endParaRPr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18" name="Google Shape;318;p31"/>
          <p:cNvSpPr/>
          <p:nvPr/>
        </p:nvSpPr>
        <p:spPr>
          <a:xfrm>
            <a:off x="1020167" y="3343365"/>
            <a:ext cx="1235100" cy="285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관절 </a:t>
            </a:r>
            <a:r>
              <a:rPr lang="ko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각속도</a:t>
            </a:r>
            <a:endParaRPr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19" name="Google Shape;319;p31"/>
          <p:cNvSpPr/>
          <p:nvPr/>
        </p:nvSpPr>
        <p:spPr>
          <a:xfrm>
            <a:off x="1020167" y="3701790"/>
            <a:ext cx="1235100" cy="285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발 접촉 정보</a:t>
            </a:r>
            <a:endParaRPr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20" name="Google Shape;320;p31"/>
          <p:cNvSpPr/>
          <p:nvPr/>
        </p:nvSpPr>
        <p:spPr>
          <a:xfrm>
            <a:off x="3474050" y="1563690"/>
            <a:ext cx="2262000" cy="1062900"/>
          </a:xfrm>
          <a:prstGeom prst="rect">
            <a:avLst/>
          </a:prstGeom>
          <a:solidFill>
            <a:schemeClr val="lt1"/>
          </a:solidFill>
          <a:ln cap="flat" cmpd="sng" w="10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525" lIns="103525" spcFirstLastPara="1" rIns="103525" wrap="square" tIns="103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21" name="Google Shape;321;p31"/>
          <p:cNvSpPr/>
          <p:nvPr/>
        </p:nvSpPr>
        <p:spPr>
          <a:xfrm>
            <a:off x="3474075" y="1563690"/>
            <a:ext cx="2262000" cy="352200"/>
          </a:xfrm>
          <a:prstGeom prst="rect">
            <a:avLst/>
          </a:prstGeom>
          <a:solidFill>
            <a:srgbClr val="B6D7A8"/>
          </a:solidFill>
          <a:ln cap="flat" cmpd="sng" w="10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525" lIns="103525" spcFirstLastPara="1" rIns="103525" wrap="square" tIns="103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585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Action</a:t>
            </a:r>
            <a:endParaRPr b="1" sz="1585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322" name="Google Shape;322;p31"/>
          <p:cNvCxnSpPr/>
          <p:nvPr/>
        </p:nvCxnSpPr>
        <p:spPr>
          <a:xfrm>
            <a:off x="2769492" y="2307424"/>
            <a:ext cx="705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3" name="Google Shape;323;p31"/>
          <p:cNvSpPr txBox="1"/>
          <p:nvPr/>
        </p:nvSpPr>
        <p:spPr>
          <a:xfrm>
            <a:off x="3474055" y="2065670"/>
            <a:ext cx="2262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행동(토크 명령)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324" name="Google Shape;324;p31"/>
          <p:cNvSpPr/>
          <p:nvPr/>
        </p:nvSpPr>
        <p:spPr>
          <a:xfrm>
            <a:off x="3474088" y="3037825"/>
            <a:ext cx="2262000" cy="1062900"/>
          </a:xfrm>
          <a:prstGeom prst="rect">
            <a:avLst/>
          </a:prstGeom>
          <a:solidFill>
            <a:schemeClr val="lt1"/>
          </a:solidFill>
          <a:ln cap="flat" cmpd="sng" w="10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525" lIns="103525" spcFirstLastPara="1" rIns="103525" wrap="square" tIns="103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25" name="Google Shape;325;p31"/>
          <p:cNvSpPr/>
          <p:nvPr/>
        </p:nvSpPr>
        <p:spPr>
          <a:xfrm>
            <a:off x="3474100" y="3037815"/>
            <a:ext cx="2262000" cy="352200"/>
          </a:xfrm>
          <a:prstGeom prst="rect">
            <a:avLst/>
          </a:prstGeom>
          <a:solidFill>
            <a:srgbClr val="FFE599"/>
          </a:solidFill>
          <a:ln cap="flat" cmpd="sng" w="10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525" lIns="103525" spcFirstLastPara="1" rIns="103525" wrap="square" tIns="103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585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Environment</a:t>
            </a:r>
            <a:endParaRPr b="1" sz="1585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26" name="Google Shape;326;p31"/>
          <p:cNvSpPr txBox="1"/>
          <p:nvPr/>
        </p:nvSpPr>
        <p:spPr>
          <a:xfrm>
            <a:off x="3474100" y="3504111"/>
            <a:ext cx="2262000" cy="4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물리 시뮬레이션으로</a:t>
            </a:r>
            <a:endParaRPr b="1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다음 상태와 보상 생성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327" name="Google Shape;327;p31"/>
          <p:cNvSpPr/>
          <p:nvPr/>
        </p:nvSpPr>
        <p:spPr>
          <a:xfrm>
            <a:off x="6442275" y="1561315"/>
            <a:ext cx="2262000" cy="1828800"/>
          </a:xfrm>
          <a:prstGeom prst="rect">
            <a:avLst/>
          </a:prstGeom>
          <a:solidFill>
            <a:schemeClr val="lt1"/>
          </a:solidFill>
          <a:ln cap="flat" cmpd="sng" w="10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525" lIns="103525" spcFirstLastPara="1" rIns="103525" wrap="square" tIns="103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28" name="Google Shape;328;p31"/>
          <p:cNvSpPr/>
          <p:nvPr/>
        </p:nvSpPr>
        <p:spPr>
          <a:xfrm>
            <a:off x="6442275" y="1561315"/>
            <a:ext cx="2262000" cy="352200"/>
          </a:xfrm>
          <a:prstGeom prst="rect">
            <a:avLst/>
          </a:prstGeom>
          <a:solidFill>
            <a:srgbClr val="F9CB9C"/>
          </a:solidFill>
          <a:ln cap="flat" cmpd="sng" w="10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525" lIns="103525" spcFirstLastPara="1" rIns="103525" wrap="square" tIns="103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585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Reward</a:t>
            </a:r>
            <a:endParaRPr b="1" sz="1585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29" name="Google Shape;329;p31"/>
          <p:cNvSpPr/>
          <p:nvPr/>
        </p:nvSpPr>
        <p:spPr>
          <a:xfrm>
            <a:off x="6645429" y="2019140"/>
            <a:ext cx="1917600" cy="532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Base Reward</a:t>
            </a:r>
            <a:endParaRPr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(MuJoCo)</a:t>
            </a:r>
            <a:endParaRPr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30" name="Google Shape;330;p31"/>
          <p:cNvSpPr/>
          <p:nvPr/>
        </p:nvSpPr>
        <p:spPr>
          <a:xfrm>
            <a:off x="6645425" y="2735965"/>
            <a:ext cx="1917600" cy="532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Custom Reward</a:t>
            </a:r>
            <a:endParaRPr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(Run Forward)</a:t>
            </a:r>
            <a:endParaRPr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31" name="Google Shape;331;p31"/>
          <p:cNvSpPr/>
          <p:nvPr/>
        </p:nvSpPr>
        <p:spPr>
          <a:xfrm>
            <a:off x="6442275" y="3821474"/>
            <a:ext cx="2262000" cy="934800"/>
          </a:xfrm>
          <a:prstGeom prst="rect">
            <a:avLst/>
          </a:prstGeom>
          <a:solidFill>
            <a:schemeClr val="lt1"/>
          </a:solidFill>
          <a:ln cap="flat" cmpd="sng" w="10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525" lIns="103525" spcFirstLastPara="1" rIns="103525" wrap="square" tIns="103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32" name="Google Shape;332;p31"/>
          <p:cNvSpPr/>
          <p:nvPr/>
        </p:nvSpPr>
        <p:spPr>
          <a:xfrm>
            <a:off x="6442275" y="3821465"/>
            <a:ext cx="2262000" cy="352200"/>
          </a:xfrm>
          <a:prstGeom prst="rect">
            <a:avLst/>
          </a:prstGeom>
          <a:solidFill>
            <a:srgbClr val="A4C2F4"/>
          </a:solidFill>
          <a:ln cap="flat" cmpd="sng" w="10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525" lIns="103525" spcFirstLastPara="1" rIns="103525" wrap="square" tIns="103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585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Next State</a:t>
            </a:r>
            <a:endParaRPr b="1" sz="1585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6442267" y="4305642"/>
            <a:ext cx="2262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다음 관측(Observation)</a:t>
            </a:r>
            <a:endParaRPr b="1" sz="1800">
              <a:solidFill>
                <a:schemeClr val="dk2"/>
              </a:solidFill>
            </a:endParaRPr>
          </a:p>
        </p:txBody>
      </p:sp>
      <p:cxnSp>
        <p:nvCxnSpPr>
          <p:cNvPr id="334" name="Google Shape;334;p31"/>
          <p:cNvCxnSpPr>
            <a:endCxn id="327" idx="1"/>
          </p:cNvCxnSpPr>
          <p:nvPr/>
        </p:nvCxnSpPr>
        <p:spPr>
          <a:xfrm flipH="1" rot="10800000">
            <a:off x="5736075" y="2475715"/>
            <a:ext cx="706200" cy="1071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5" name="Google Shape;335;p31"/>
          <p:cNvCxnSpPr>
            <a:stCxn id="320" idx="2"/>
            <a:endCxn id="325" idx="0"/>
          </p:cNvCxnSpPr>
          <p:nvPr/>
        </p:nvCxnSpPr>
        <p:spPr>
          <a:xfrm>
            <a:off x="4605050" y="2626590"/>
            <a:ext cx="0" cy="411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6" name="Google Shape;336;p31"/>
          <p:cNvCxnSpPr/>
          <p:nvPr/>
        </p:nvCxnSpPr>
        <p:spPr>
          <a:xfrm>
            <a:off x="7573275" y="3416884"/>
            <a:ext cx="0" cy="411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7" name="Google Shape;337;p31"/>
          <p:cNvSpPr txBox="1"/>
          <p:nvPr/>
        </p:nvSpPr>
        <p:spPr>
          <a:xfrm>
            <a:off x="331275" y="1072040"/>
            <a:ext cx="20193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3.4 Episode</a:t>
            </a:r>
            <a:endParaRPr sz="1700">
              <a:solidFill>
                <a:schemeClr val="dk2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61F1C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2"/>
          <p:cNvSpPr/>
          <p:nvPr/>
        </p:nvSpPr>
        <p:spPr>
          <a:xfrm>
            <a:off x="0" y="281450"/>
            <a:ext cx="9144000" cy="456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</p:txBody>
      </p:sp>
      <p:sp>
        <p:nvSpPr>
          <p:cNvPr id="343" name="Google Shape;343;p32"/>
          <p:cNvSpPr txBox="1"/>
          <p:nvPr/>
        </p:nvSpPr>
        <p:spPr>
          <a:xfrm>
            <a:off x="267975" y="451650"/>
            <a:ext cx="5427900" cy="6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500">
                <a:solidFill>
                  <a:srgbClr val="861F1C"/>
                </a:solidFill>
                <a:latin typeface="Noto Sans KR"/>
                <a:ea typeface="Noto Sans KR"/>
                <a:cs typeface="Noto Sans KR"/>
                <a:sym typeface="Noto Sans KR"/>
              </a:rPr>
              <a:t>3. State-Action-Reward 설계</a:t>
            </a:r>
            <a:endParaRPr b="1" sz="2500">
              <a:solidFill>
                <a:srgbClr val="861F1C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344" name="Google Shape;344;p32" title="4. 시그니처(Signature)_가.좌우조합(기본)_국문영문.png"/>
          <p:cNvPicPr preferRelativeResize="0"/>
          <p:nvPr/>
        </p:nvPicPr>
        <p:blipFill rotWithShape="1">
          <a:blip r:embed="rId3">
            <a:alphaModFix/>
          </a:blip>
          <a:srcRect b="31637" l="21203" r="13133" t="32382"/>
          <a:stretch/>
        </p:blipFill>
        <p:spPr>
          <a:xfrm>
            <a:off x="7023175" y="360725"/>
            <a:ext cx="1839227" cy="6948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5" name="Google Shape;345;p32"/>
          <p:cNvCxnSpPr/>
          <p:nvPr/>
        </p:nvCxnSpPr>
        <p:spPr>
          <a:xfrm flipH="1">
            <a:off x="285055" y="1053252"/>
            <a:ext cx="8640000" cy="17100"/>
          </a:xfrm>
          <a:prstGeom prst="straightConnector1">
            <a:avLst/>
          </a:prstGeom>
          <a:noFill/>
          <a:ln cap="flat" cmpd="sng" w="28575">
            <a:solidFill>
              <a:srgbClr val="861F1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6" name="Google Shape;346;p32"/>
          <p:cNvSpPr txBox="1"/>
          <p:nvPr/>
        </p:nvSpPr>
        <p:spPr>
          <a:xfrm>
            <a:off x="331275" y="1119914"/>
            <a:ext cx="20193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3.4 Episode</a:t>
            </a:r>
            <a:endParaRPr sz="1700">
              <a:solidFill>
                <a:schemeClr val="dk2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47" name="Google Shape;347;p32"/>
          <p:cNvSpPr txBox="1"/>
          <p:nvPr/>
        </p:nvSpPr>
        <p:spPr>
          <a:xfrm>
            <a:off x="452263" y="1565241"/>
            <a:ext cx="24537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KR"/>
              <a:buChar char="❏"/>
            </a:pPr>
            <a:r>
              <a:rPr b="1" lang="ko" sz="16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Episode 종료 조건</a:t>
            </a:r>
            <a:endParaRPr sz="1600">
              <a:solidFill>
                <a:schemeClr val="dk2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348" name="Google Shape;348;p32"/>
          <p:cNvGraphicFramePr/>
          <p:nvPr/>
        </p:nvGraphicFramePr>
        <p:xfrm>
          <a:off x="599539" y="203077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{09EA0B3D-F3DF-47C0-8B46-3B483F88BA2D}</a:tableStyleId>
              </a:tblPr>
              <a:tblGrid>
                <a:gridCol w="1873300"/>
                <a:gridCol w="1450050"/>
                <a:gridCol w="1133725"/>
              </a:tblGrid>
              <a:tr h="378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종료 조건</a:t>
                      </a:r>
                      <a:endParaRPr b="1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종료 유형</a:t>
                      </a:r>
                      <a:endParaRPr b="1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설명</a:t>
                      </a:r>
                      <a:endParaRPr b="1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7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Torso Height &lt; 0.7m</a:t>
                      </a: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Terminated</a:t>
                      </a: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(실제 종료)</a:t>
                      </a: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로봇 낙상</a:t>
                      </a: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Step = 1000</a:t>
                      </a: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Truncated</a:t>
                      </a: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(최대 Step 도달)</a:t>
                      </a: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타임아웃</a:t>
                      </a: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49" name="Google Shape;349;p32"/>
          <p:cNvSpPr txBox="1"/>
          <p:nvPr/>
        </p:nvSpPr>
        <p:spPr>
          <a:xfrm>
            <a:off x="563644" y="3794050"/>
            <a:ext cx="5602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※ PPO의 GAE 계산 시 Terminated와 Truncated를 구분하여 처리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61F1C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3"/>
          <p:cNvSpPr/>
          <p:nvPr/>
        </p:nvSpPr>
        <p:spPr>
          <a:xfrm>
            <a:off x="0" y="281450"/>
            <a:ext cx="9144000" cy="456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</p:txBody>
      </p:sp>
      <p:sp>
        <p:nvSpPr>
          <p:cNvPr id="355" name="Google Shape;355;p33"/>
          <p:cNvSpPr txBox="1"/>
          <p:nvPr/>
        </p:nvSpPr>
        <p:spPr>
          <a:xfrm>
            <a:off x="2685150" y="2262500"/>
            <a:ext cx="3773700" cy="6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000">
                <a:solidFill>
                  <a:srgbClr val="861F1C"/>
                </a:solidFill>
                <a:latin typeface="Noto Sans KR"/>
                <a:ea typeface="Noto Sans KR"/>
                <a:cs typeface="Noto Sans KR"/>
                <a:sym typeface="Noto Sans KR"/>
              </a:rPr>
              <a:t>4. 알고리즘 설계</a:t>
            </a:r>
            <a:endParaRPr b="1" sz="3000">
              <a:solidFill>
                <a:srgbClr val="861F1C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356" name="Google Shape;356;p33" title="4. 시그니처(Signature)_가.좌우조합(기본)_국문영문.png"/>
          <p:cNvPicPr preferRelativeResize="0"/>
          <p:nvPr/>
        </p:nvPicPr>
        <p:blipFill rotWithShape="1">
          <a:blip r:embed="rId3">
            <a:alphaModFix/>
          </a:blip>
          <a:srcRect b="31637" l="21203" r="13133" t="32382"/>
          <a:stretch/>
        </p:blipFill>
        <p:spPr>
          <a:xfrm>
            <a:off x="7023175" y="360725"/>
            <a:ext cx="1839227" cy="694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61F1C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4"/>
          <p:cNvSpPr/>
          <p:nvPr/>
        </p:nvSpPr>
        <p:spPr>
          <a:xfrm>
            <a:off x="0" y="281450"/>
            <a:ext cx="9144000" cy="456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</p:txBody>
      </p:sp>
      <p:sp>
        <p:nvSpPr>
          <p:cNvPr id="362" name="Google Shape;362;p34"/>
          <p:cNvSpPr txBox="1"/>
          <p:nvPr/>
        </p:nvSpPr>
        <p:spPr>
          <a:xfrm>
            <a:off x="267975" y="451650"/>
            <a:ext cx="5427900" cy="6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500">
                <a:solidFill>
                  <a:srgbClr val="861F1C"/>
                </a:solidFill>
                <a:latin typeface="Noto Sans KR"/>
                <a:ea typeface="Noto Sans KR"/>
                <a:cs typeface="Noto Sans KR"/>
                <a:sym typeface="Noto Sans KR"/>
              </a:rPr>
              <a:t>4. 알고리즘 설계</a:t>
            </a:r>
            <a:endParaRPr b="1" sz="2500">
              <a:solidFill>
                <a:srgbClr val="861F1C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363" name="Google Shape;363;p34" title="4. 시그니처(Signature)_가.좌우조합(기본)_국문영문.png"/>
          <p:cNvPicPr preferRelativeResize="0"/>
          <p:nvPr/>
        </p:nvPicPr>
        <p:blipFill rotWithShape="1">
          <a:blip r:embed="rId3">
            <a:alphaModFix/>
          </a:blip>
          <a:srcRect b="31637" l="21203" r="13133" t="32382"/>
          <a:stretch/>
        </p:blipFill>
        <p:spPr>
          <a:xfrm>
            <a:off x="7023175" y="360725"/>
            <a:ext cx="1839227" cy="6948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4" name="Google Shape;364;p34"/>
          <p:cNvCxnSpPr/>
          <p:nvPr/>
        </p:nvCxnSpPr>
        <p:spPr>
          <a:xfrm flipH="1">
            <a:off x="285055" y="1087286"/>
            <a:ext cx="8640000" cy="17100"/>
          </a:xfrm>
          <a:prstGeom prst="straightConnector1">
            <a:avLst/>
          </a:prstGeom>
          <a:noFill/>
          <a:ln cap="flat" cmpd="sng" w="28575">
            <a:solidFill>
              <a:srgbClr val="861F1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5" name="Google Shape;365;p34"/>
          <p:cNvSpPr txBox="1"/>
          <p:nvPr/>
        </p:nvSpPr>
        <p:spPr>
          <a:xfrm>
            <a:off x="346204" y="1576840"/>
            <a:ext cx="24537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KR"/>
              <a:buChar char="❏"/>
            </a:pPr>
            <a:r>
              <a:rPr b="1" lang="ko" sz="16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공통 네트워크 구조</a:t>
            </a:r>
            <a:endParaRPr sz="1600">
              <a:solidFill>
                <a:schemeClr val="dk2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66" name="Google Shape;366;p34"/>
          <p:cNvSpPr txBox="1"/>
          <p:nvPr/>
        </p:nvSpPr>
        <p:spPr>
          <a:xfrm>
            <a:off x="285050" y="1132838"/>
            <a:ext cx="24537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4.1</a:t>
            </a:r>
            <a:r>
              <a:rPr b="1" lang="ko" sz="17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b="1" lang="ko" sz="17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네트워크 구조</a:t>
            </a:r>
            <a:endParaRPr sz="1700">
              <a:solidFill>
                <a:schemeClr val="dk2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67" name="Google Shape;367;p34"/>
          <p:cNvSpPr txBox="1"/>
          <p:nvPr/>
        </p:nvSpPr>
        <p:spPr>
          <a:xfrm>
            <a:off x="470115" y="1931975"/>
            <a:ext cx="4043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모든 알고리즘은 동일한 MLP Backbone을 사용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68" name="Google Shape;368;p34"/>
          <p:cNvSpPr txBox="1"/>
          <p:nvPr/>
        </p:nvSpPr>
        <p:spPr>
          <a:xfrm>
            <a:off x="4427496" y="1097427"/>
            <a:ext cx="24537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KR"/>
              <a:buChar char="❏"/>
            </a:pPr>
            <a:r>
              <a:rPr b="1" lang="ko" sz="16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알고리즘별 네트워크</a:t>
            </a:r>
            <a:endParaRPr sz="1600">
              <a:solidFill>
                <a:schemeClr val="dk2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369" name="Google Shape;369;p34"/>
          <p:cNvCxnSpPr/>
          <p:nvPr/>
        </p:nvCxnSpPr>
        <p:spPr>
          <a:xfrm flipH="1">
            <a:off x="2333801" y="2332576"/>
            <a:ext cx="9300" cy="2160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0" name="Google Shape;370;p34"/>
          <p:cNvSpPr/>
          <p:nvPr/>
        </p:nvSpPr>
        <p:spPr>
          <a:xfrm>
            <a:off x="1675001" y="2334118"/>
            <a:ext cx="1326900" cy="285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State</a:t>
            </a:r>
            <a:endParaRPr/>
          </a:p>
        </p:txBody>
      </p:sp>
      <p:sp>
        <p:nvSpPr>
          <p:cNvPr id="371" name="Google Shape;371;p34"/>
          <p:cNvSpPr/>
          <p:nvPr/>
        </p:nvSpPr>
        <p:spPr>
          <a:xfrm>
            <a:off x="1675001" y="2732137"/>
            <a:ext cx="1326900" cy="285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Linear(256)</a:t>
            </a:r>
            <a:endParaRPr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72" name="Google Shape;372;p34"/>
          <p:cNvSpPr/>
          <p:nvPr/>
        </p:nvSpPr>
        <p:spPr>
          <a:xfrm>
            <a:off x="1675000" y="3144312"/>
            <a:ext cx="1326900" cy="285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ReLU</a:t>
            </a:r>
            <a:endParaRPr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73" name="Google Shape;373;p34"/>
          <p:cNvSpPr/>
          <p:nvPr/>
        </p:nvSpPr>
        <p:spPr>
          <a:xfrm>
            <a:off x="1675000" y="3556488"/>
            <a:ext cx="1326900" cy="285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Linear(256)</a:t>
            </a:r>
            <a:endParaRPr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74" name="Google Shape;374;p34"/>
          <p:cNvSpPr/>
          <p:nvPr/>
        </p:nvSpPr>
        <p:spPr>
          <a:xfrm>
            <a:off x="1675001" y="3985900"/>
            <a:ext cx="1326900" cy="285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ReLU</a:t>
            </a:r>
            <a:endParaRPr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75" name="Google Shape;375;p34"/>
          <p:cNvSpPr/>
          <p:nvPr/>
        </p:nvSpPr>
        <p:spPr>
          <a:xfrm>
            <a:off x="1675001" y="4481527"/>
            <a:ext cx="1326900" cy="285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Actor / Critic</a:t>
            </a:r>
            <a:endParaRPr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376" name="Google Shape;376;p34"/>
          <p:cNvGraphicFramePr/>
          <p:nvPr/>
        </p:nvGraphicFramePr>
        <p:xfrm>
          <a:off x="4596589" y="15184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{09EA0B3D-F3DF-47C0-8B46-3B483F88BA2D}</a:tableStyleId>
              </a:tblPr>
              <a:tblGrid>
                <a:gridCol w="865425"/>
                <a:gridCol w="2142225"/>
                <a:gridCol w="1449425"/>
              </a:tblGrid>
              <a:tr h="378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알고리즘</a:t>
                      </a:r>
                      <a:endParaRPr b="1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Actor</a:t>
                      </a:r>
                      <a:endParaRPr b="1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Critic</a:t>
                      </a:r>
                      <a:endParaRPr b="1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78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PPO</a:t>
                      </a:r>
                      <a:endParaRPr b="1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1F232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GaussianActor (state-independent std) </a:t>
                      </a:r>
                      <a:endParaRPr>
                        <a:solidFill>
                          <a:srgbClr val="1F232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1F232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→ 출력: mean(17), log_std(17)</a:t>
                      </a:r>
                      <a:r>
                        <a:rPr lang="ko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1F232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VNetwork: </a:t>
                      </a:r>
                      <a:endParaRPr>
                        <a:solidFill>
                          <a:srgbClr val="1F232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1F232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obs → V(1)</a:t>
                      </a:r>
                      <a:r>
                        <a:rPr lang="ko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SAC</a:t>
                      </a:r>
                      <a:endParaRPr b="1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1F232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GaussianActor </a:t>
                      </a:r>
                      <a:endParaRPr>
                        <a:solidFill>
                          <a:srgbClr val="1F232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1F232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(state-dependent std + tanh + max_action)</a:t>
                      </a:r>
                      <a:r>
                        <a:rPr lang="ko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1F232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TwinQNetwork: [obs+action] → Q1, Q2 (512×512)</a:t>
                      </a:r>
                      <a:r>
                        <a:rPr lang="ko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TD3</a:t>
                      </a:r>
                      <a:endParaRPr b="1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1F232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DeterministicActor</a:t>
                      </a:r>
                      <a:endParaRPr>
                        <a:solidFill>
                          <a:srgbClr val="1F232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1F232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: obs → tanh → ×max_action</a:t>
                      </a:r>
                      <a:r>
                        <a:rPr lang="ko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1F232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TwinQNetwork: [obs+action] → Q1, Q2</a:t>
                      </a:r>
                      <a:r>
                        <a:rPr lang="ko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61F1C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5"/>
          <p:cNvSpPr/>
          <p:nvPr/>
        </p:nvSpPr>
        <p:spPr>
          <a:xfrm>
            <a:off x="0" y="281450"/>
            <a:ext cx="9144000" cy="456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</p:txBody>
      </p:sp>
      <p:sp>
        <p:nvSpPr>
          <p:cNvPr id="382" name="Google Shape;382;p35"/>
          <p:cNvSpPr txBox="1"/>
          <p:nvPr/>
        </p:nvSpPr>
        <p:spPr>
          <a:xfrm>
            <a:off x="267975" y="451650"/>
            <a:ext cx="5427900" cy="6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500">
                <a:solidFill>
                  <a:srgbClr val="861F1C"/>
                </a:solidFill>
                <a:latin typeface="Noto Sans KR"/>
                <a:ea typeface="Noto Sans KR"/>
                <a:cs typeface="Noto Sans KR"/>
                <a:sym typeface="Noto Sans KR"/>
              </a:rPr>
              <a:t>4. 알고리즘 설계</a:t>
            </a:r>
            <a:endParaRPr b="1" sz="2500">
              <a:solidFill>
                <a:srgbClr val="861F1C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383" name="Google Shape;383;p35" title="4. 시그니처(Signature)_가.좌우조합(기본)_국문영문.png"/>
          <p:cNvPicPr preferRelativeResize="0"/>
          <p:nvPr/>
        </p:nvPicPr>
        <p:blipFill rotWithShape="1">
          <a:blip r:embed="rId3">
            <a:alphaModFix/>
          </a:blip>
          <a:srcRect b="31637" l="21203" r="13133" t="32382"/>
          <a:stretch/>
        </p:blipFill>
        <p:spPr>
          <a:xfrm>
            <a:off x="7023175" y="360725"/>
            <a:ext cx="1839227" cy="6948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4" name="Google Shape;384;p35"/>
          <p:cNvCxnSpPr/>
          <p:nvPr/>
        </p:nvCxnSpPr>
        <p:spPr>
          <a:xfrm flipH="1">
            <a:off x="285055" y="1087286"/>
            <a:ext cx="8640000" cy="17100"/>
          </a:xfrm>
          <a:prstGeom prst="straightConnector1">
            <a:avLst/>
          </a:prstGeom>
          <a:noFill/>
          <a:ln cap="flat" cmpd="sng" w="28575">
            <a:solidFill>
              <a:srgbClr val="861F1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5" name="Google Shape;385;p35"/>
          <p:cNvSpPr txBox="1"/>
          <p:nvPr/>
        </p:nvSpPr>
        <p:spPr>
          <a:xfrm>
            <a:off x="2237915" y="1509233"/>
            <a:ext cx="1839300" cy="5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861F1C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6" name="Google Shape;386;p35"/>
          <p:cNvSpPr txBox="1"/>
          <p:nvPr/>
        </p:nvSpPr>
        <p:spPr>
          <a:xfrm>
            <a:off x="2550650" y="2379675"/>
            <a:ext cx="502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87" name="Google Shape;387;p35"/>
          <p:cNvGraphicFramePr/>
          <p:nvPr/>
        </p:nvGraphicFramePr>
        <p:xfrm>
          <a:off x="544050" y="1741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{09EA0B3D-F3DF-47C0-8B46-3B483F88BA2D}</a:tableStyleId>
              </a:tblPr>
              <a:tblGrid>
                <a:gridCol w="1320675"/>
                <a:gridCol w="3831150"/>
                <a:gridCol w="31665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알고리즘</a:t>
                      </a:r>
                      <a:endParaRPr b="1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핵심 아이디어</a:t>
                      </a:r>
                      <a:endParaRPr b="1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장점</a:t>
                      </a:r>
                      <a:endParaRPr b="1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PPO</a:t>
                      </a:r>
                      <a:endParaRPr b="1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1F2328"/>
                          </a:solidFill>
                          <a:highlight>
                            <a:srgbClr val="FFFFFF"/>
                          </a:highlight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Clipped surrogate objective로</a:t>
                      </a:r>
                      <a:endParaRPr>
                        <a:solidFill>
                          <a:srgbClr val="1F2328"/>
                        </a:solidFill>
                        <a:highlight>
                          <a:srgbClr val="FFFFFF"/>
                        </a:highlight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1F2328"/>
                          </a:solidFill>
                          <a:highlight>
                            <a:srgbClr val="FFFFFF"/>
                          </a:highlight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정책 업데이트 폭 제한</a:t>
                      </a:r>
                      <a:r>
                        <a:rPr lang="ko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1F2328"/>
                          </a:solidFill>
                          <a:highlight>
                            <a:srgbClr val="FFFFFF"/>
                          </a:highlight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구현 단순, 안정적 학습</a:t>
                      </a:r>
                      <a:r>
                        <a:rPr lang="ko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SAC</a:t>
                      </a:r>
                      <a:r>
                        <a:rPr b="1"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endParaRPr b="1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보상 최대화 + 엔트로피 최대화</a:t>
                      </a: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(탐색-활용 균형)</a:t>
                      </a: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샘플 효율성 우수, 연속 제어에 강함</a:t>
                      </a: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TD3</a:t>
                      </a:r>
                      <a:r>
                        <a:rPr b="1"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endParaRPr b="1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1F2328"/>
                          </a:solidFill>
                          <a:highlight>
                            <a:srgbClr val="FFFFFF"/>
                          </a:highlight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Twin Q-network + Delayed policy update + Target policy smoothing</a:t>
                      </a:r>
                      <a:r>
                        <a:rPr lang="ko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Q-value 과대 추정 문제 해결</a:t>
                      </a: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88" name="Google Shape;388;p35"/>
          <p:cNvSpPr txBox="1"/>
          <p:nvPr/>
        </p:nvSpPr>
        <p:spPr>
          <a:xfrm>
            <a:off x="285050" y="1132838"/>
            <a:ext cx="24537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4.2 </a:t>
            </a:r>
            <a:r>
              <a:rPr b="1" lang="ko" sz="17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알고리즘 비교 분석</a:t>
            </a:r>
            <a:endParaRPr sz="1700">
              <a:solidFill>
                <a:schemeClr val="dk2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61F1C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6"/>
          <p:cNvSpPr/>
          <p:nvPr/>
        </p:nvSpPr>
        <p:spPr>
          <a:xfrm>
            <a:off x="0" y="281450"/>
            <a:ext cx="9144000" cy="456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</p:txBody>
      </p:sp>
      <p:sp>
        <p:nvSpPr>
          <p:cNvPr id="394" name="Google Shape;394;p36"/>
          <p:cNvSpPr txBox="1"/>
          <p:nvPr/>
        </p:nvSpPr>
        <p:spPr>
          <a:xfrm>
            <a:off x="267975" y="451650"/>
            <a:ext cx="5427900" cy="6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500">
                <a:solidFill>
                  <a:srgbClr val="861F1C"/>
                </a:solidFill>
                <a:latin typeface="Noto Sans KR"/>
                <a:ea typeface="Noto Sans KR"/>
                <a:cs typeface="Noto Sans KR"/>
                <a:sym typeface="Noto Sans KR"/>
              </a:rPr>
              <a:t>4. 알고리즘 설계</a:t>
            </a:r>
            <a:endParaRPr b="1" sz="2500">
              <a:solidFill>
                <a:srgbClr val="861F1C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395" name="Google Shape;395;p36" title="4. 시그니처(Signature)_가.좌우조합(기본)_국문영문.png"/>
          <p:cNvPicPr preferRelativeResize="0"/>
          <p:nvPr/>
        </p:nvPicPr>
        <p:blipFill rotWithShape="1">
          <a:blip r:embed="rId3">
            <a:alphaModFix/>
          </a:blip>
          <a:srcRect b="31637" l="21203" r="13133" t="32382"/>
          <a:stretch/>
        </p:blipFill>
        <p:spPr>
          <a:xfrm>
            <a:off x="7023175" y="360725"/>
            <a:ext cx="1839227" cy="6948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6" name="Google Shape;396;p36"/>
          <p:cNvCxnSpPr/>
          <p:nvPr/>
        </p:nvCxnSpPr>
        <p:spPr>
          <a:xfrm flipH="1">
            <a:off x="285055" y="1087286"/>
            <a:ext cx="8640000" cy="17100"/>
          </a:xfrm>
          <a:prstGeom prst="straightConnector1">
            <a:avLst/>
          </a:prstGeom>
          <a:noFill/>
          <a:ln cap="flat" cmpd="sng" w="28575">
            <a:solidFill>
              <a:srgbClr val="861F1C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397" name="Google Shape;397;p36"/>
          <p:cNvGraphicFramePr/>
          <p:nvPr/>
        </p:nvGraphicFramePr>
        <p:xfrm>
          <a:off x="205915" y="1891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{09EA0B3D-F3DF-47C0-8B46-3B483F88BA2D}</a:tableStyleId>
              </a:tblPr>
              <a:tblGrid>
                <a:gridCol w="1412725"/>
                <a:gridCol w="754150"/>
                <a:gridCol w="2035525"/>
              </a:tblGrid>
              <a:tr h="264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3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종류</a:t>
                      </a:r>
                      <a:endParaRPr b="1"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3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값</a:t>
                      </a:r>
                      <a:endParaRPr b="1"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3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설명</a:t>
                      </a:r>
                      <a:endParaRPr b="1"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3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Learning Rate (Actor) </a:t>
                      </a:r>
                      <a:endParaRPr b="1"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>
                          <a:solidFill>
                            <a:srgbClr val="1F2328"/>
                          </a:solidFill>
                          <a:highlight>
                            <a:srgbClr val="FFFFFF"/>
                          </a:highlight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3.0e-4</a:t>
                      </a:r>
                      <a:endParaRPr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>
                          <a:solidFill>
                            <a:srgbClr val="1F2328"/>
                          </a:solidFill>
                          <a:highlight>
                            <a:srgbClr val="FFFFFF"/>
                          </a:highlight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Actor 네트워크 학습률 </a:t>
                      </a:r>
                      <a:r>
                        <a:rPr lang="ko" sz="13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endParaRPr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3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Learning Rate (</a:t>
                      </a:r>
                      <a:r>
                        <a:rPr b="1" lang="ko" sz="13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Critic</a:t>
                      </a:r>
                      <a:r>
                        <a:rPr b="1" lang="ko" sz="13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) </a:t>
                      </a:r>
                      <a:endParaRPr b="1"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>
                          <a:solidFill>
                            <a:srgbClr val="1F2328"/>
                          </a:solidFill>
                          <a:highlight>
                            <a:srgbClr val="FFFFFF"/>
                          </a:highlight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3.0e-4</a:t>
                      </a:r>
                      <a:endParaRPr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>
                          <a:solidFill>
                            <a:srgbClr val="1F2328"/>
                          </a:solidFill>
                          <a:highlight>
                            <a:srgbClr val="FFFFFF"/>
                          </a:highlight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Critic </a:t>
                      </a:r>
                      <a:r>
                        <a:rPr lang="ko" sz="1300">
                          <a:solidFill>
                            <a:srgbClr val="1F2328"/>
                          </a:solidFill>
                          <a:highlight>
                            <a:srgbClr val="FFFFFF"/>
                          </a:highlight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네트워크 학습률 </a:t>
                      </a:r>
                      <a:r>
                        <a:rPr lang="ko" sz="13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endParaRPr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3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Rollout Steps (n_steps)</a:t>
                      </a:r>
                      <a:endParaRPr b="1"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>
                          <a:solidFill>
                            <a:srgbClr val="1F2328"/>
                          </a:solidFill>
                          <a:highlight>
                            <a:srgbClr val="FFFFFF"/>
                          </a:highlight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2048</a:t>
                      </a:r>
                      <a:endParaRPr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한 번의 정책 업데이트 전 수집하는 경험 수</a:t>
                      </a:r>
                      <a:endParaRPr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3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Batch Size </a:t>
                      </a:r>
                      <a:endParaRPr b="1"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>
                          <a:solidFill>
                            <a:srgbClr val="1F2328"/>
                          </a:solidFill>
                          <a:highlight>
                            <a:srgbClr val="FFFFFF"/>
                          </a:highlight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512 </a:t>
                      </a:r>
                      <a:endParaRPr sz="1300">
                        <a:solidFill>
                          <a:srgbClr val="1F2328"/>
                        </a:solidFill>
                        <a:highlight>
                          <a:srgbClr val="FFFFFF"/>
                        </a:highlight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미니배치 크기 </a:t>
                      </a:r>
                      <a:endParaRPr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3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Reward Scale</a:t>
                      </a:r>
                      <a:endParaRPr b="1"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>
                          <a:solidFill>
                            <a:srgbClr val="1F232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1.0</a:t>
                      </a:r>
                      <a:endParaRPr sz="1300">
                        <a:solidFill>
                          <a:srgbClr val="1F2328"/>
                        </a:solidFill>
                        <a:highlight>
                          <a:srgbClr val="FFFFFF"/>
                        </a:highlight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추가 Reward Scaling X</a:t>
                      </a:r>
                      <a:endParaRPr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98" name="Google Shape;398;p36"/>
          <p:cNvSpPr txBox="1"/>
          <p:nvPr/>
        </p:nvSpPr>
        <p:spPr>
          <a:xfrm>
            <a:off x="416379" y="1457820"/>
            <a:ext cx="32460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KR"/>
              <a:buChar char="❏"/>
            </a:pPr>
            <a:r>
              <a:rPr b="1" lang="ko" sz="16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PPO Hyperparameters</a:t>
            </a:r>
            <a:endParaRPr sz="1600">
              <a:solidFill>
                <a:schemeClr val="dk2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99" name="Google Shape;399;p36"/>
          <p:cNvSpPr txBox="1"/>
          <p:nvPr/>
        </p:nvSpPr>
        <p:spPr>
          <a:xfrm>
            <a:off x="285050" y="1123735"/>
            <a:ext cx="24537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4.3 </a:t>
            </a:r>
            <a:r>
              <a:rPr b="1" lang="ko" sz="17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하이퍼파라미터 설정</a:t>
            </a:r>
            <a:endParaRPr sz="1700">
              <a:solidFill>
                <a:schemeClr val="dk2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400" name="Google Shape;400;p36"/>
          <p:cNvGraphicFramePr/>
          <p:nvPr/>
        </p:nvGraphicFramePr>
        <p:xfrm>
          <a:off x="4477106" y="149288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{09EA0B3D-F3DF-47C0-8B46-3B483F88BA2D}</a:tableStyleId>
              </a:tblPr>
              <a:tblGrid>
                <a:gridCol w="1577925"/>
                <a:gridCol w="640175"/>
                <a:gridCol w="2346775"/>
              </a:tblGrid>
              <a:tr h="322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3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종류</a:t>
                      </a:r>
                      <a:endParaRPr b="1"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3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값</a:t>
                      </a:r>
                      <a:endParaRPr b="1"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3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설명</a:t>
                      </a:r>
                      <a:endParaRPr b="1"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3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PPO Epochs (n_epochs)</a:t>
                      </a:r>
                      <a:endParaRPr b="1"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>
                          <a:solidFill>
                            <a:srgbClr val="1F2328"/>
                          </a:solidFill>
                          <a:highlight>
                            <a:srgbClr val="FFFFFF"/>
                          </a:highlight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10</a:t>
                      </a:r>
                      <a:endParaRPr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>
                          <a:solidFill>
                            <a:srgbClr val="1F2328"/>
                          </a:solidFill>
                          <a:highlight>
                            <a:srgbClr val="FFFFFF"/>
                          </a:highlight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동일 데이터에 대한 반복 학습 횟수</a:t>
                      </a:r>
                      <a:r>
                        <a:rPr lang="ko" sz="13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endParaRPr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300">
                          <a:highlight>
                            <a:srgbClr val="F4CCCC"/>
                          </a:highlight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Clip Ratio (ε)</a:t>
                      </a:r>
                      <a:r>
                        <a:rPr b="1" lang="ko" sz="1300">
                          <a:highlight>
                            <a:srgbClr val="F4CCCC"/>
                          </a:highlight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endParaRPr b="1" sz="1300">
                        <a:highlight>
                          <a:srgbClr val="F4CCCC"/>
                        </a:highlight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>
                          <a:solidFill>
                            <a:srgbClr val="1F2328"/>
                          </a:solidFill>
                          <a:highlight>
                            <a:srgbClr val="F4CCCC"/>
                          </a:highlight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0.1</a:t>
                      </a:r>
                      <a:endParaRPr sz="1300">
                        <a:highlight>
                          <a:srgbClr val="F4CCCC"/>
                        </a:highlight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>
                          <a:solidFill>
                            <a:srgbClr val="1F2328"/>
                          </a:solidFill>
                          <a:highlight>
                            <a:srgbClr val="F4CCCC"/>
                          </a:highlight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정책 업데이트 범위 제한</a:t>
                      </a:r>
                      <a:endParaRPr sz="1300">
                        <a:solidFill>
                          <a:srgbClr val="1F2328"/>
                        </a:solidFill>
                        <a:highlight>
                          <a:srgbClr val="F4CCCC"/>
                        </a:highlight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>
                          <a:solidFill>
                            <a:srgbClr val="1F2328"/>
                          </a:solidFill>
                          <a:highlight>
                            <a:srgbClr val="F4CCCC"/>
                          </a:highlight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(안정성 향상) </a:t>
                      </a:r>
                      <a:endParaRPr sz="1300">
                        <a:highlight>
                          <a:srgbClr val="F4CCCC"/>
                        </a:highlight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300">
                          <a:solidFill>
                            <a:schemeClr val="dk1"/>
                          </a:solidFill>
                          <a:highlight>
                            <a:srgbClr val="F4CCCC"/>
                          </a:highlight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GAE Lambda (λ) </a:t>
                      </a:r>
                      <a:endParaRPr b="1" sz="1300">
                        <a:solidFill>
                          <a:schemeClr val="dk1"/>
                        </a:solidFill>
                        <a:highlight>
                          <a:srgbClr val="F4CCCC"/>
                        </a:highlight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>
                          <a:solidFill>
                            <a:schemeClr val="dk1"/>
                          </a:solidFill>
                          <a:highlight>
                            <a:srgbClr val="F4CCCC"/>
                          </a:highlight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0.95</a:t>
                      </a:r>
                      <a:endParaRPr sz="1300">
                        <a:solidFill>
                          <a:schemeClr val="dk1"/>
                        </a:solidFill>
                        <a:highlight>
                          <a:srgbClr val="F4CCCC"/>
                        </a:highlight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>
                          <a:solidFill>
                            <a:schemeClr val="dk1"/>
                          </a:solidFill>
                          <a:highlight>
                            <a:srgbClr val="F4CCCC"/>
                          </a:highlight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Advantage 추정 시 Bias-Variance Trade-off 조절 </a:t>
                      </a:r>
                      <a:endParaRPr sz="1300">
                        <a:solidFill>
                          <a:schemeClr val="dk1"/>
                        </a:solidFill>
                        <a:highlight>
                          <a:srgbClr val="F4CCCC"/>
                        </a:highlight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3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Entropy Coefficient </a:t>
                      </a:r>
                      <a:r>
                        <a:rPr b="1" lang="ko" sz="13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endParaRPr b="1"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>
                          <a:solidFill>
                            <a:srgbClr val="1F2328"/>
                          </a:solidFill>
                          <a:highlight>
                            <a:srgbClr val="FFFFFF"/>
                          </a:highlight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0.001</a:t>
                      </a:r>
                      <a:r>
                        <a:rPr lang="ko" sz="1300">
                          <a:solidFill>
                            <a:srgbClr val="1F2328"/>
                          </a:solidFill>
                          <a:highlight>
                            <a:srgbClr val="FFFFFF"/>
                          </a:highlight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endParaRPr sz="1300">
                        <a:solidFill>
                          <a:srgbClr val="1F2328"/>
                        </a:solidFill>
                        <a:highlight>
                          <a:srgbClr val="FFFFFF"/>
                        </a:highlight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탐험(Exploration) 유도 </a:t>
                      </a:r>
                      <a:r>
                        <a:rPr lang="ko" sz="13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endParaRPr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300">
                          <a:highlight>
                            <a:srgbClr val="F4CCCC"/>
                          </a:highlight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Learning Rate Annealing</a:t>
                      </a:r>
                      <a:endParaRPr b="1" sz="1300">
                        <a:highlight>
                          <a:srgbClr val="F4CCCC"/>
                        </a:highlight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>
                          <a:solidFill>
                            <a:srgbClr val="1F2328"/>
                          </a:solidFill>
                          <a:highlight>
                            <a:srgbClr val="F4CCCC"/>
                          </a:highlight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True</a:t>
                      </a:r>
                      <a:endParaRPr sz="1300">
                        <a:solidFill>
                          <a:srgbClr val="1F2328"/>
                        </a:solidFill>
                        <a:highlight>
                          <a:srgbClr val="F4CCCC"/>
                        </a:highlight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>
                          <a:highlight>
                            <a:srgbClr val="F4CCCC"/>
                          </a:highlight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학습 진행에 따라 LR 선형 감소 </a:t>
                      </a:r>
                      <a:endParaRPr sz="1300">
                        <a:highlight>
                          <a:srgbClr val="F4CCCC"/>
                        </a:highlight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61F1C"/>
        </a:solidFill>
      </p:bgPr>
    </p:bg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7"/>
          <p:cNvSpPr/>
          <p:nvPr/>
        </p:nvSpPr>
        <p:spPr>
          <a:xfrm>
            <a:off x="0" y="281450"/>
            <a:ext cx="9144000" cy="456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</p:txBody>
      </p:sp>
      <p:sp>
        <p:nvSpPr>
          <p:cNvPr id="406" name="Google Shape;406;p37"/>
          <p:cNvSpPr txBox="1"/>
          <p:nvPr/>
        </p:nvSpPr>
        <p:spPr>
          <a:xfrm>
            <a:off x="267975" y="451650"/>
            <a:ext cx="5427900" cy="6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500">
                <a:solidFill>
                  <a:srgbClr val="861F1C"/>
                </a:solidFill>
                <a:latin typeface="Noto Sans KR"/>
                <a:ea typeface="Noto Sans KR"/>
                <a:cs typeface="Noto Sans KR"/>
                <a:sym typeface="Noto Sans KR"/>
              </a:rPr>
              <a:t>4. 알고리즘 설계</a:t>
            </a:r>
            <a:endParaRPr b="1" sz="2500">
              <a:solidFill>
                <a:srgbClr val="861F1C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407" name="Google Shape;407;p37" title="4. 시그니처(Signature)_가.좌우조합(기본)_국문영문.png"/>
          <p:cNvPicPr preferRelativeResize="0"/>
          <p:nvPr/>
        </p:nvPicPr>
        <p:blipFill rotWithShape="1">
          <a:blip r:embed="rId3">
            <a:alphaModFix/>
          </a:blip>
          <a:srcRect b="31637" l="21203" r="13133" t="32382"/>
          <a:stretch/>
        </p:blipFill>
        <p:spPr>
          <a:xfrm>
            <a:off x="7023175" y="360725"/>
            <a:ext cx="1839227" cy="6948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8" name="Google Shape;408;p37"/>
          <p:cNvCxnSpPr/>
          <p:nvPr/>
        </p:nvCxnSpPr>
        <p:spPr>
          <a:xfrm flipH="1">
            <a:off x="285055" y="1087286"/>
            <a:ext cx="8640000" cy="17100"/>
          </a:xfrm>
          <a:prstGeom prst="straightConnector1">
            <a:avLst/>
          </a:prstGeom>
          <a:noFill/>
          <a:ln cap="flat" cmpd="sng" w="28575">
            <a:solidFill>
              <a:srgbClr val="861F1C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409" name="Google Shape;409;p37"/>
          <p:cNvGraphicFramePr/>
          <p:nvPr/>
        </p:nvGraphicFramePr>
        <p:xfrm>
          <a:off x="205915" y="1891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{09EA0B3D-F3DF-47C0-8B46-3B483F88BA2D}</a:tableStyleId>
              </a:tblPr>
              <a:tblGrid>
                <a:gridCol w="1354450"/>
                <a:gridCol w="933375"/>
                <a:gridCol w="1984725"/>
              </a:tblGrid>
              <a:tr h="264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3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종류</a:t>
                      </a:r>
                      <a:endParaRPr b="1"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3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값</a:t>
                      </a:r>
                      <a:endParaRPr b="1"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3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설명</a:t>
                      </a:r>
                      <a:endParaRPr b="1"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3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Learning Rate (Actor) </a:t>
                      </a:r>
                      <a:endParaRPr b="1"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>
                          <a:solidFill>
                            <a:srgbClr val="1F2328"/>
                          </a:solidFill>
                          <a:highlight>
                            <a:srgbClr val="FFFFFF"/>
                          </a:highlight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3.0e-4</a:t>
                      </a:r>
                      <a:endParaRPr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>
                          <a:solidFill>
                            <a:srgbClr val="1F2328"/>
                          </a:solidFill>
                          <a:highlight>
                            <a:srgbClr val="FFFFFF"/>
                          </a:highlight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Actor 네트워크 학습률 </a:t>
                      </a:r>
                      <a:r>
                        <a:rPr lang="ko" sz="13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endParaRPr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3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Learning Rate (Critic) </a:t>
                      </a:r>
                      <a:endParaRPr b="1"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>
                          <a:solidFill>
                            <a:srgbClr val="1F2328"/>
                          </a:solidFill>
                          <a:highlight>
                            <a:srgbClr val="FFFFFF"/>
                          </a:highlight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1.0e-4 </a:t>
                      </a:r>
                      <a:endParaRPr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>
                          <a:solidFill>
                            <a:srgbClr val="1F2328"/>
                          </a:solidFill>
                          <a:highlight>
                            <a:srgbClr val="FFFFFF"/>
                          </a:highlight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Critic 네트워크 학습률 </a:t>
                      </a:r>
                      <a:r>
                        <a:rPr lang="ko" sz="13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endParaRPr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3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Learning Rate (Alpha) </a:t>
                      </a:r>
                      <a:endParaRPr b="1"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>
                          <a:solidFill>
                            <a:srgbClr val="1F2328"/>
                          </a:solidFill>
                          <a:highlight>
                            <a:srgbClr val="FFFFFF"/>
                          </a:highlight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3.0e-4 </a:t>
                      </a:r>
                      <a:endParaRPr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Entropy 계수(α) 학습률 </a:t>
                      </a:r>
                      <a:endParaRPr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7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3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Batch Size </a:t>
                      </a:r>
                      <a:endParaRPr b="1"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>
                          <a:solidFill>
                            <a:srgbClr val="1F2328"/>
                          </a:solidFill>
                          <a:highlight>
                            <a:srgbClr val="FFFFFF"/>
                          </a:highlight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256 </a:t>
                      </a:r>
                      <a:endParaRPr sz="1300">
                        <a:solidFill>
                          <a:srgbClr val="1F2328"/>
                        </a:solidFill>
                        <a:highlight>
                          <a:srgbClr val="FFFFFF"/>
                        </a:highlight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Replay Buffer에서 샘플링하는 미니배치 크기 </a:t>
                      </a:r>
                      <a:r>
                        <a:rPr lang="ko" sz="13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endParaRPr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10" name="Google Shape;410;p37"/>
          <p:cNvSpPr txBox="1"/>
          <p:nvPr/>
        </p:nvSpPr>
        <p:spPr>
          <a:xfrm>
            <a:off x="416379" y="1457820"/>
            <a:ext cx="32460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KR"/>
              <a:buChar char="❏"/>
            </a:pPr>
            <a:r>
              <a:rPr b="1" lang="ko" sz="16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SAC </a:t>
            </a:r>
            <a:r>
              <a:rPr b="1" lang="ko" sz="16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Hyperparameters</a:t>
            </a:r>
            <a:endParaRPr sz="1600">
              <a:solidFill>
                <a:schemeClr val="dk2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11" name="Google Shape;411;p37"/>
          <p:cNvSpPr txBox="1"/>
          <p:nvPr/>
        </p:nvSpPr>
        <p:spPr>
          <a:xfrm>
            <a:off x="285050" y="1123735"/>
            <a:ext cx="24537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4.3 하이퍼파라미터 설정</a:t>
            </a:r>
            <a:endParaRPr sz="1700">
              <a:solidFill>
                <a:schemeClr val="dk2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412" name="Google Shape;412;p37"/>
          <p:cNvGraphicFramePr/>
          <p:nvPr/>
        </p:nvGraphicFramePr>
        <p:xfrm>
          <a:off x="4582331" y="132708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{09EA0B3D-F3DF-47C0-8B46-3B483F88BA2D}</a:tableStyleId>
              </a:tblPr>
              <a:tblGrid>
                <a:gridCol w="1496075"/>
                <a:gridCol w="944775"/>
                <a:gridCol w="2053875"/>
              </a:tblGrid>
              <a:tr h="322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3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종류</a:t>
                      </a:r>
                      <a:endParaRPr b="1"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3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값</a:t>
                      </a:r>
                      <a:endParaRPr b="1"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3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설명</a:t>
                      </a:r>
                      <a:endParaRPr b="1"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3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Buffer Size </a:t>
                      </a:r>
                      <a:endParaRPr b="1"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>
                          <a:solidFill>
                            <a:srgbClr val="1F232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1,000,000 </a:t>
                      </a:r>
                      <a:endParaRPr sz="1300">
                        <a:solidFill>
                          <a:srgbClr val="1F2328"/>
                        </a:solidFill>
                        <a:highlight>
                          <a:srgbClr val="FFFFFF"/>
                        </a:highlight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Replay Buffer 최대 용량</a:t>
                      </a:r>
                      <a:endParaRPr sz="1300">
                        <a:solidFill>
                          <a:srgbClr val="1F2328"/>
                        </a:solidFill>
                        <a:highlight>
                          <a:srgbClr val="FFFFFF"/>
                        </a:highlight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3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Auto Entropy </a:t>
                      </a:r>
                      <a:endParaRPr b="1"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>
                          <a:solidFill>
                            <a:srgbClr val="1F2328"/>
                          </a:solidFill>
                          <a:highlight>
                            <a:srgbClr val="FFFFFF"/>
                          </a:highlight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True</a:t>
                      </a:r>
                      <a:endParaRPr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>
                          <a:solidFill>
                            <a:srgbClr val="1F2328"/>
                          </a:solidFill>
                          <a:highlight>
                            <a:srgbClr val="FFFFFF"/>
                          </a:highlight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Entropy 계수 자동 조절 사용 </a:t>
                      </a:r>
                      <a:endParaRPr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300">
                          <a:highlight>
                            <a:srgbClr val="F4CCCC"/>
                          </a:highlight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Target Entropy </a:t>
                      </a:r>
                      <a:endParaRPr b="1" sz="1300">
                        <a:highlight>
                          <a:srgbClr val="F4CCCC"/>
                        </a:highlight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>
                          <a:solidFill>
                            <a:srgbClr val="1F2328"/>
                          </a:solidFill>
                          <a:highlight>
                            <a:srgbClr val="F4CCCC"/>
                          </a:highlight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-8.5 </a:t>
                      </a:r>
                      <a:endParaRPr sz="1300">
                        <a:highlight>
                          <a:srgbClr val="F4CCCC"/>
                        </a:highlight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>
                          <a:solidFill>
                            <a:srgbClr val="1F2328"/>
                          </a:solidFill>
                          <a:highlight>
                            <a:srgbClr val="F4CCCC"/>
                          </a:highlight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Humanoid-v5 전용 목표 엔트로피</a:t>
                      </a:r>
                      <a:endParaRPr sz="1300">
                        <a:highlight>
                          <a:srgbClr val="F4CCCC"/>
                        </a:highlight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3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Learning Starts </a:t>
                      </a:r>
                      <a:r>
                        <a:rPr b="1" lang="ko" sz="13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endParaRPr b="1" sz="130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10,000</a:t>
                      </a:r>
                      <a:endParaRPr sz="130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초기 랜덤 탐험 단계 </a:t>
                      </a:r>
                      <a:endParaRPr sz="130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300">
                          <a:highlight>
                            <a:srgbClr val="F4CCCC"/>
                          </a:highlight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Reward Scale </a:t>
                      </a:r>
                      <a:endParaRPr b="1" sz="1300">
                        <a:highlight>
                          <a:srgbClr val="F4CCCC"/>
                        </a:highlight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>
                          <a:solidFill>
                            <a:srgbClr val="1F2328"/>
                          </a:solidFill>
                          <a:highlight>
                            <a:srgbClr val="F4CCCC"/>
                          </a:highlight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10.0 </a:t>
                      </a:r>
                      <a:endParaRPr sz="1300">
                        <a:solidFill>
                          <a:srgbClr val="1F2328"/>
                        </a:solidFill>
                        <a:highlight>
                          <a:srgbClr val="F4CCCC"/>
                        </a:highlight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>
                          <a:highlight>
                            <a:srgbClr val="F4CCCC"/>
                          </a:highlight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Reward Scaling 적용 </a:t>
                      </a:r>
                      <a:endParaRPr sz="1300">
                        <a:highlight>
                          <a:srgbClr val="F4CCCC"/>
                        </a:highlight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3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Tau </a:t>
                      </a:r>
                      <a:endParaRPr b="1"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>
                          <a:solidFill>
                            <a:srgbClr val="1F232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0.005 </a:t>
                      </a:r>
                      <a:endParaRPr sz="1300">
                        <a:solidFill>
                          <a:srgbClr val="1F232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Target Network Soft Update 비율 </a:t>
                      </a:r>
                      <a:endParaRPr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61F1C"/>
        </a:solidFill>
      </p:bgPr>
    </p:bg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8"/>
          <p:cNvSpPr/>
          <p:nvPr/>
        </p:nvSpPr>
        <p:spPr>
          <a:xfrm>
            <a:off x="0" y="281450"/>
            <a:ext cx="9144000" cy="456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</p:txBody>
      </p:sp>
      <p:sp>
        <p:nvSpPr>
          <p:cNvPr id="418" name="Google Shape;418;p38"/>
          <p:cNvSpPr txBox="1"/>
          <p:nvPr/>
        </p:nvSpPr>
        <p:spPr>
          <a:xfrm>
            <a:off x="267975" y="451650"/>
            <a:ext cx="5427900" cy="6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500">
                <a:solidFill>
                  <a:srgbClr val="861F1C"/>
                </a:solidFill>
                <a:latin typeface="Noto Sans KR"/>
                <a:ea typeface="Noto Sans KR"/>
                <a:cs typeface="Noto Sans KR"/>
                <a:sym typeface="Noto Sans KR"/>
              </a:rPr>
              <a:t>4. 알고리즘 설계</a:t>
            </a:r>
            <a:endParaRPr b="1" sz="2500">
              <a:solidFill>
                <a:srgbClr val="861F1C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419" name="Google Shape;419;p38" title="4. 시그니처(Signature)_가.좌우조합(기본)_국문영문.png"/>
          <p:cNvPicPr preferRelativeResize="0"/>
          <p:nvPr/>
        </p:nvPicPr>
        <p:blipFill rotWithShape="1">
          <a:blip r:embed="rId3">
            <a:alphaModFix/>
          </a:blip>
          <a:srcRect b="31637" l="21203" r="13133" t="32382"/>
          <a:stretch/>
        </p:blipFill>
        <p:spPr>
          <a:xfrm>
            <a:off x="7023175" y="360725"/>
            <a:ext cx="1839227" cy="6948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0" name="Google Shape;420;p38"/>
          <p:cNvCxnSpPr/>
          <p:nvPr/>
        </p:nvCxnSpPr>
        <p:spPr>
          <a:xfrm flipH="1">
            <a:off x="285055" y="1087286"/>
            <a:ext cx="8640000" cy="17100"/>
          </a:xfrm>
          <a:prstGeom prst="straightConnector1">
            <a:avLst/>
          </a:prstGeom>
          <a:noFill/>
          <a:ln cap="flat" cmpd="sng" w="28575">
            <a:solidFill>
              <a:srgbClr val="861F1C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421" name="Google Shape;421;p38"/>
          <p:cNvGraphicFramePr/>
          <p:nvPr/>
        </p:nvGraphicFramePr>
        <p:xfrm>
          <a:off x="194222" y="1891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{09EA0B3D-F3DF-47C0-8B46-3B483F88BA2D}</a:tableStyleId>
              </a:tblPr>
              <a:tblGrid>
                <a:gridCol w="1363700"/>
                <a:gridCol w="1083625"/>
                <a:gridCol w="1965550"/>
              </a:tblGrid>
              <a:tr h="264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3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종류</a:t>
                      </a:r>
                      <a:endParaRPr b="1"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3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값</a:t>
                      </a:r>
                      <a:endParaRPr b="1"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3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설명</a:t>
                      </a:r>
                      <a:endParaRPr b="1"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3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Learning Rate (Actor) </a:t>
                      </a:r>
                      <a:endParaRPr b="1"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>
                          <a:solidFill>
                            <a:srgbClr val="1F2328"/>
                          </a:solidFill>
                          <a:highlight>
                            <a:srgbClr val="FFFFFF"/>
                          </a:highlight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3.0e-4</a:t>
                      </a:r>
                      <a:endParaRPr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>
                          <a:solidFill>
                            <a:srgbClr val="1F2328"/>
                          </a:solidFill>
                          <a:highlight>
                            <a:srgbClr val="FFFFFF"/>
                          </a:highlight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Actor 네트워크 학습률 </a:t>
                      </a:r>
                      <a:r>
                        <a:rPr lang="ko" sz="13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endParaRPr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3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Learning Rate (Critic) </a:t>
                      </a:r>
                      <a:endParaRPr b="1"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>
                          <a:solidFill>
                            <a:srgbClr val="1F2328"/>
                          </a:solidFill>
                          <a:highlight>
                            <a:srgbClr val="FFFFFF"/>
                          </a:highlight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</a:t>
                      </a:r>
                      <a:r>
                        <a:rPr lang="ko" sz="1300">
                          <a:solidFill>
                            <a:srgbClr val="1F2328"/>
                          </a:solidFill>
                          <a:highlight>
                            <a:srgbClr val="FFFFFF"/>
                          </a:highlight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.0e-4</a:t>
                      </a:r>
                      <a:endParaRPr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>
                          <a:solidFill>
                            <a:srgbClr val="1F2328"/>
                          </a:solidFill>
                          <a:highlight>
                            <a:srgbClr val="FFFFFF"/>
                          </a:highlight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Q-value 과대추정 방지를 위한 낮은 Critic 학습률 </a:t>
                      </a:r>
                      <a:endParaRPr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3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Batch Size </a:t>
                      </a:r>
                      <a:endParaRPr b="1"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>
                          <a:solidFill>
                            <a:srgbClr val="1F2328"/>
                          </a:solidFill>
                          <a:highlight>
                            <a:srgbClr val="FFFFFF"/>
                          </a:highlight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1024 </a:t>
                      </a:r>
                      <a:endParaRPr sz="1300">
                        <a:solidFill>
                          <a:srgbClr val="1F2328"/>
                        </a:solidFill>
                        <a:highlight>
                          <a:srgbClr val="FFFFFF"/>
                        </a:highlight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Replay Buffer에서 샘플링하는 미니배치 크기 </a:t>
                      </a:r>
                      <a:endParaRPr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3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Buffer Size </a:t>
                      </a:r>
                      <a:endParaRPr b="1"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>
                          <a:solidFill>
                            <a:srgbClr val="1F232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1,000,000 </a:t>
                      </a:r>
                      <a:endParaRPr sz="1300">
                        <a:solidFill>
                          <a:srgbClr val="1F2328"/>
                        </a:solidFill>
                        <a:highlight>
                          <a:srgbClr val="FFFFFF"/>
                        </a:highlight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Replay Buffer 최대 용량 </a:t>
                      </a:r>
                      <a:endParaRPr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22" name="Google Shape;422;p38"/>
          <p:cNvSpPr txBox="1"/>
          <p:nvPr/>
        </p:nvSpPr>
        <p:spPr>
          <a:xfrm>
            <a:off x="416379" y="1457820"/>
            <a:ext cx="32460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KR"/>
              <a:buChar char="❏"/>
            </a:pPr>
            <a:r>
              <a:rPr b="1" lang="ko" sz="16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TD3 </a:t>
            </a:r>
            <a:r>
              <a:rPr b="1" lang="ko" sz="16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Hyperparameters</a:t>
            </a:r>
            <a:endParaRPr sz="1600">
              <a:solidFill>
                <a:schemeClr val="dk2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23" name="Google Shape;423;p38"/>
          <p:cNvSpPr txBox="1"/>
          <p:nvPr/>
        </p:nvSpPr>
        <p:spPr>
          <a:xfrm>
            <a:off x="285050" y="1123735"/>
            <a:ext cx="24537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4.3 하이퍼파라미터 설정</a:t>
            </a:r>
            <a:endParaRPr sz="1700">
              <a:solidFill>
                <a:schemeClr val="dk2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424" name="Google Shape;424;p38"/>
          <p:cNvGraphicFramePr/>
          <p:nvPr/>
        </p:nvGraphicFramePr>
        <p:xfrm>
          <a:off x="4672656" y="189102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{09EA0B3D-F3DF-47C0-8B46-3B483F88BA2D}</a:tableStyleId>
              </a:tblPr>
              <a:tblGrid>
                <a:gridCol w="1484400"/>
                <a:gridCol w="663575"/>
                <a:gridCol w="2264900"/>
              </a:tblGrid>
              <a:tr h="380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3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종류</a:t>
                      </a:r>
                      <a:endParaRPr b="1"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3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값</a:t>
                      </a:r>
                      <a:endParaRPr b="1"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3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설명</a:t>
                      </a:r>
                      <a:endParaRPr b="1"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546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3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Policy Delay </a:t>
                      </a:r>
                      <a:endParaRPr b="1"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>
                          <a:solidFill>
                            <a:srgbClr val="1F2328"/>
                          </a:solidFill>
                          <a:highlight>
                            <a:srgbClr val="FFFFFF"/>
                          </a:highlight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</a:t>
                      </a:r>
                      <a:endParaRPr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>
                          <a:solidFill>
                            <a:srgbClr val="1F2328"/>
                          </a:solidFill>
                          <a:highlight>
                            <a:srgbClr val="FFFFFF"/>
                          </a:highlight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Actor를 Critic보다 느리게 업데이트 </a:t>
                      </a:r>
                      <a:endParaRPr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6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3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Target Noise </a:t>
                      </a:r>
                      <a:endParaRPr b="1"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>
                          <a:solidFill>
                            <a:srgbClr val="1F232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0.2</a:t>
                      </a:r>
                      <a:endParaRPr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>
                          <a:solidFill>
                            <a:srgbClr val="1F232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Target Policy Smoothing Noise </a:t>
                      </a:r>
                      <a:endParaRPr sz="13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9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300">
                          <a:solidFill>
                            <a:schemeClr val="dk1"/>
                          </a:solidFill>
                          <a:highlight>
                            <a:srgbClr val="F4CCCC"/>
                          </a:highlight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Gradient Steps </a:t>
                      </a:r>
                      <a:endParaRPr b="1" sz="1300">
                        <a:solidFill>
                          <a:schemeClr val="dk1"/>
                        </a:solidFill>
                        <a:highlight>
                          <a:srgbClr val="F4CCCC"/>
                        </a:highlight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>
                          <a:solidFill>
                            <a:schemeClr val="dk1"/>
                          </a:solidFill>
                          <a:highlight>
                            <a:srgbClr val="F4CCCC"/>
                          </a:highlight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8</a:t>
                      </a:r>
                      <a:endParaRPr sz="1300">
                        <a:solidFill>
                          <a:schemeClr val="dk1"/>
                        </a:solidFill>
                        <a:highlight>
                          <a:srgbClr val="F4CCCC"/>
                        </a:highlight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>
                          <a:solidFill>
                            <a:schemeClr val="dk1"/>
                          </a:solidFill>
                          <a:highlight>
                            <a:srgbClr val="F4CCCC"/>
                          </a:highlight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업데이트당 Gradient Step 수 </a:t>
                      </a:r>
                      <a:endParaRPr sz="1300">
                        <a:solidFill>
                          <a:schemeClr val="dk1"/>
                        </a:solidFill>
                        <a:highlight>
                          <a:srgbClr val="F4CCCC"/>
                        </a:highlight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8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300">
                          <a:highlight>
                            <a:srgbClr val="F4CCCC"/>
                          </a:highlight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Reward Scale </a:t>
                      </a:r>
                      <a:endParaRPr b="1" sz="1300">
                        <a:highlight>
                          <a:srgbClr val="F4CCCC"/>
                        </a:highlight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>
                          <a:solidFill>
                            <a:srgbClr val="1F2328"/>
                          </a:solidFill>
                          <a:highlight>
                            <a:srgbClr val="F4CCCC"/>
                          </a:highlight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10.0</a:t>
                      </a:r>
                      <a:endParaRPr sz="1300">
                        <a:solidFill>
                          <a:srgbClr val="1F2328"/>
                        </a:solidFill>
                        <a:highlight>
                          <a:srgbClr val="F4CCCC"/>
                        </a:highlight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>
                          <a:highlight>
                            <a:srgbClr val="F4CCCC"/>
                          </a:highlight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Reward Scaling 적용 </a:t>
                      </a:r>
                      <a:endParaRPr sz="1300">
                        <a:highlight>
                          <a:srgbClr val="F4CCCC"/>
                        </a:highlight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61F1C"/>
        </a:solidFill>
      </p:bgPr>
    </p:bg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9"/>
          <p:cNvSpPr/>
          <p:nvPr/>
        </p:nvSpPr>
        <p:spPr>
          <a:xfrm>
            <a:off x="0" y="281450"/>
            <a:ext cx="9144000" cy="456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</p:txBody>
      </p:sp>
      <p:sp>
        <p:nvSpPr>
          <p:cNvPr id="430" name="Google Shape;430;p39"/>
          <p:cNvSpPr txBox="1"/>
          <p:nvPr/>
        </p:nvSpPr>
        <p:spPr>
          <a:xfrm>
            <a:off x="2685150" y="2262500"/>
            <a:ext cx="3773700" cy="60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000">
                <a:solidFill>
                  <a:srgbClr val="861F1C"/>
                </a:solidFill>
                <a:latin typeface="Noto Sans KR"/>
                <a:ea typeface="Noto Sans KR"/>
                <a:cs typeface="Noto Sans KR"/>
                <a:sym typeface="Noto Sans KR"/>
              </a:rPr>
              <a:t>5. 실험 셋업</a:t>
            </a:r>
            <a:endParaRPr b="1" sz="3000">
              <a:solidFill>
                <a:srgbClr val="861F1C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431" name="Google Shape;431;p39" title="4. 시그니처(Signature)_가.좌우조합(기본)_국문영문.png"/>
          <p:cNvPicPr preferRelativeResize="0"/>
          <p:nvPr/>
        </p:nvPicPr>
        <p:blipFill rotWithShape="1">
          <a:blip r:embed="rId3">
            <a:alphaModFix/>
          </a:blip>
          <a:srcRect b="31637" l="21203" r="13133" t="32382"/>
          <a:stretch/>
        </p:blipFill>
        <p:spPr>
          <a:xfrm>
            <a:off x="7023175" y="360725"/>
            <a:ext cx="1839227" cy="694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61F1C"/>
        </a:solidFill>
      </p:bgPr>
    </p:bg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40"/>
          <p:cNvSpPr/>
          <p:nvPr/>
        </p:nvSpPr>
        <p:spPr>
          <a:xfrm>
            <a:off x="0" y="281450"/>
            <a:ext cx="9144000" cy="456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</p:txBody>
      </p:sp>
      <p:sp>
        <p:nvSpPr>
          <p:cNvPr id="437" name="Google Shape;437;p40"/>
          <p:cNvSpPr txBox="1"/>
          <p:nvPr/>
        </p:nvSpPr>
        <p:spPr>
          <a:xfrm>
            <a:off x="267975" y="451650"/>
            <a:ext cx="5427900" cy="6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500">
                <a:solidFill>
                  <a:srgbClr val="861F1C"/>
                </a:solidFill>
                <a:latin typeface="Noto Sans KR"/>
                <a:ea typeface="Noto Sans KR"/>
                <a:cs typeface="Noto Sans KR"/>
                <a:sym typeface="Noto Sans KR"/>
              </a:rPr>
              <a:t>5</a:t>
            </a:r>
            <a:r>
              <a:rPr b="1" lang="ko" sz="2500">
                <a:solidFill>
                  <a:srgbClr val="861F1C"/>
                </a:solidFill>
                <a:latin typeface="Noto Sans KR"/>
                <a:ea typeface="Noto Sans KR"/>
                <a:cs typeface="Noto Sans KR"/>
                <a:sym typeface="Noto Sans KR"/>
              </a:rPr>
              <a:t>.</a:t>
            </a:r>
            <a:r>
              <a:rPr b="1" lang="ko" sz="2500">
                <a:solidFill>
                  <a:srgbClr val="861F1C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b="1" lang="ko" sz="2500">
                <a:solidFill>
                  <a:srgbClr val="861F1C"/>
                </a:solidFill>
                <a:latin typeface="Noto Sans KR"/>
                <a:ea typeface="Noto Sans KR"/>
                <a:cs typeface="Noto Sans KR"/>
                <a:sym typeface="Noto Sans KR"/>
              </a:rPr>
              <a:t>실험 셋업</a:t>
            </a:r>
            <a:endParaRPr b="1" sz="2500">
              <a:solidFill>
                <a:srgbClr val="861F1C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438" name="Google Shape;438;p40" title="4. 시그니처(Signature)_가.좌우조합(기본)_국문영문.png"/>
          <p:cNvPicPr preferRelativeResize="0"/>
          <p:nvPr/>
        </p:nvPicPr>
        <p:blipFill rotWithShape="1">
          <a:blip r:embed="rId3">
            <a:alphaModFix/>
          </a:blip>
          <a:srcRect b="31637" l="21203" r="13133" t="32382"/>
          <a:stretch/>
        </p:blipFill>
        <p:spPr>
          <a:xfrm>
            <a:off x="7023175" y="360725"/>
            <a:ext cx="1839227" cy="6948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9" name="Google Shape;439;p40"/>
          <p:cNvCxnSpPr/>
          <p:nvPr/>
        </p:nvCxnSpPr>
        <p:spPr>
          <a:xfrm flipH="1">
            <a:off x="285055" y="1064596"/>
            <a:ext cx="8640000" cy="17100"/>
          </a:xfrm>
          <a:prstGeom prst="straightConnector1">
            <a:avLst/>
          </a:prstGeom>
          <a:noFill/>
          <a:ln cap="flat" cmpd="sng" w="28575">
            <a:solidFill>
              <a:srgbClr val="861F1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0" name="Google Shape;440;p40"/>
          <p:cNvSpPr txBox="1"/>
          <p:nvPr/>
        </p:nvSpPr>
        <p:spPr>
          <a:xfrm>
            <a:off x="331275" y="1137496"/>
            <a:ext cx="28248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5.1 기본 성능 비교 실험</a:t>
            </a:r>
            <a:endParaRPr sz="1700">
              <a:solidFill>
                <a:schemeClr val="dk2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441" name="Google Shape;441;p40"/>
          <p:cNvCxnSpPr/>
          <p:nvPr/>
        </p:nvCxnSpPr>
        <p:spPr>
          <a:xfrm rot="10800000">
            <a:off x="4604311" y="1541098"/>
            <a:ext cx="1500" cy="324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2" name="Google Shape;442;p40"/>
          <p:cNvSpPr/>
          <p:nvPr/>
        </p:nvSpPr>
        <p:spPr>
          <a:xfrm>
            <a:off x="4950208" y="1567905"/>
            <a:ext cx="3678000" cy="3663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평가 지표</a:t>
            </a:r>
            <a:endParaRPr sz="13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43" name="Google Shape;443;p40"/>
          <p:cNvSpPr txBox="1"/>
          <p:nvPr/>
        </p:nvSpPr>
        <p:spPr>
          <a:xfrm>
            <a:off x="4969122" y="1948967"/>
            <a:ext cx="25527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📈 Episode Return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44" name="Google Shape;444;p40"/>
          <p:cNvSpPr txBox="1"/>
          <p:nvPr/>
        </p:nvSpPr>
        <p:spPr>
          <a:xfrm>
            <a:off x="4969122" y="2683706"/>
            <a:ext cx="28248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⚡ Convergence Speed 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45" name="Google Shape;445;p40"/>
          <p:cNvSpPr txBox="1"/>
          <p:nvPr/>
        </p:nvSpPr>
        <p:spPr>
          <a:xfrm>
            <a:off x="4950204" y="2269070"/>
            <a:ext cx="29595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KR"/>
              <a:buChar char="●"/>
            </a:pPr>
            <a:r>
              <a:rPr lang="ko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학습 과정에서의 누적 보상</a:t>
            </a:r>
            <a:endParaRPr sz="1500">
              <a:solidFill>
                <a:schemeClr val="dk2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46" name="Google Shape;446;p40"/>
          <p:cNvSpPr txBox="1"/>
          <p:nvPr/>
        </p:nvSpPr>
        <p:spPr>
          <a:xfrm>
            <a:off x="4950197" y="2992944"/>
            <a:ext cx="41166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KR"/>
              <a:buChar char="●"/>
            </a:pPr>
            <a:r>
              <a:rPr lang="ko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목표 Reward 도달까지 소요된 학습 시간</a:t>
            </a:r>
            <a:endParaRPr sz="1500">
              <a:solidFill>
                <a:schemeClr val="dk2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47" name="Google Shape;447;p40"/>
          <p:cNvSpPr/>
          <p:nvPr/>
        </p:nvSpPr>
        <p:spPr>
          <a:xfrm>
            <a:off x="399333" y="1570259"/>
            <a:ext cx="3678000" cy="3663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실험 구성</a:t>
            </a:r>
            <a:endParaRPr sz="13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48" name="Google Shape;448;p40"/>
          <p:cNvSpPr txBox="1"/>
          <p:nvPr/>
        </p:nvSpPr>
        <p:spPr>
          <a:xfrm>
            <a:off x="4969122" y="3406332"/>
            <a:ext cx="25527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🏆 Final Performance 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49" name="Google Shape;449;p40"/>
          <p:cNvSpPr txBox="1"/>
          <p:nvPr/>
        </p:nvSpPr>
        <p:spPr>
          <a:xfrm>
            <a:off x="4969122" y="4141072"/>
            <a:ext cx="28248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📊 Learning Stability </a:t>
            </a:r>
            <a:r>
              <a:rPr lang="ko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50" name="Google Shape;450;p40"/>
          <p:cNvSpPr txBox="1"/>
          <p:nvPr/>
        </p:nvSpPr>
        <p:spPr>
          <a:xfrm>
            <a:off x="4950199" y="3726445"/>
            <a:ext cx="40599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KR"/>
              <a:buChar char="●"/>
            </a:pPr>
            <a:r>
              <a:rPr lang="ko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마지막 100 Episode 평균 Reward </a:t>
            </a:r>
            <a:endParaRPr sz="1500">
              <a:solidFill>
                <a:schemeClr val="dk2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51" name="Google Shape;451;p40"/>
          <p:cNvSpPr txBox="1"/>
          <p:nvPr/>
        </p:nvSpPr>
        <p:spPr>
          <a:xfrm>
            <a:off x="4950197" y="4450309"/>
            <a:ext cx="41166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KR"/>
              <a:buChar char="●"/>
            </a:pPr>
            <a:r>
              <a:rPr lang="ko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Reward 표준편차 및 변동성 분석 </a:t>
            </a:r>
            <a:endParaRPr sz="1500">
              <a:solidFill>
                <a:schemeClr val="dk2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52" name="Google Shape;452;p40"/>
          <p:cNvSpPr txBox="1"/>
          <p:nvPr/>
        </p:nvSpPr>
        <p:spPr>
          <a:xfrm>
            <a:off x="399325" y="2071543"/>
            <a:ext cx="3494400" cy="9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KR"/>
              <a:buChar char="●"/>
            </a:pPr>
            <a:r>
              <a:rPr lang="ko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알고리즘: SAC, PPO, TD3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KR"/>
              <a:buChar char="●"/>
            </a:pPr>
            <a:r>
              <a:rPr lang="ko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환경: Humanoid-v5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KR"/>
              <a:buChar char="●"/>
            </a:pPr>
            <a:r>
              <a:rPr lang="ko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Random Seed: 5개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53" name="Google Shape;453;p40"/>
          <p:cNvSpPr txBox="1"/>
          <p:nvPr/>
        </p:nvSpPr>
        <p:spPr>
          <a:xfrm>
            <a:off x="250200" y="3612825"/>
            <a:ext cx="4354200" cy="9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총 실험 수</a:t>
            </a:r>
            <a:endParaRPr b="1"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= 3 Algorithms × 1 Environment × 5 Seeds</a:t>
            </a:r>
            <a:endParaRPr b="1"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= 15 Runs </a:t>
            </a:r>
            <a:endParaRPr b="1"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54" name="Google Shape;454;p40"/>
          <p:cNvSpPr/>
          <p:nvPr/>
        </p:nvSpPr>
        <p:spPr>
          <a:xfrm>
            <a:off x="1828775" y="3101770"/>
            <a:ext cx="533100" cy="4668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61F1C"/>
        </a:solidFill>
      </p:bgPr>
    </p:bg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41"/>
          <p:cNvSpPr/>
          <p:nvPr/>
        </p:nvSpPr>
        <p:spPr>
          <a:xfrm>
            <a:off x="0" y="281450"/>
            <a:ext cx="9144000" cy="456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</p:txBody>
      </p:sp>
      <p:sp>
        <p:nvSpPr>
          <p:cNvPr id="460" name="Google Shape;460;p41"/>
          <p:cNvSpPr txBox="1"/>
          <p:nvPr/>
        </p:nvSpPr>
        <p:spPr>
          <a:xfrm>
            <a:off x="267975" y="451650"/>
            <a:ext cx="5427900" cy="6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500">
                <a:solidFill>
                  <a:srgbClr val="861F1C"/>
                </a:solidFill>
                <a:latin typeface="Noto Sans KR"/>
                <a:ea typeface="Noto Sans KR"/>
                <a:cs typeface="Noto Sans KR"/>
                <a:sym typeface="Noto Sans KR"/>
              </a:rPr>
              <a:t>5. 실험 셋업</a:t>
            </a:r>
            <a:endParaRPr b="1" sz="2500">
              <a:solidFill>
                <a:srgbClr val="861F1C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461" name="Google Shape;461;p41" title="4. 시그니처(Signature)_가.좌우조합(기본)_국문영문.png"/>
          <p:cNvPicPr preferRelativeResize="0"/>
          <p:nvPr/>
        </p:nvPicPr>
        <p:blipFill rotWithShape="1">
          <a:blip r:embed="rId3">
            <a:alphaModFix/>
          </a:blip>
          <a:srcRect b="31637" l="21203" r="13133" t="32382"/>
          <a:stretch/>
        </p:blipFill>
        <p:spPr>
          <a:xfrm>
            <a:off x="7023175" y="360725"/>
            <a:ext cx="1839227" cy="6948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2" name="Google Shape;462;p41"/>
          <p:cNvCxnSpPr/>
          <p:nvPr/>
        </p:nvCxnSpPr>
        <p:spPr>
          <a:xfrm flipH="1">
            <a:off x="285055" y="1087286"/>
            <a:ext cx="8640000" cy="17100"/>
          </a:xfrm>
          <a:prstGeom prst="straightConnector1">
            <a:avLst/>
          </a:prstGeom>
          <a:noFill/>
          <a:ln cap="flat" cmpd="sng" w="28575">
            <a:solidFill>
              <a:srgbClr val="861F1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3" name="Google Shape;463;p41"/>
          <p:cNvSpPr txBox="1"/>
          <p:nvPr/>
        </p:nvSpPr>
        <p:spPr>
          <a:xfrm>
            <a:off x="331275" y="1239600"/>
            <a:ext cx="28248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5.2 Reward Shaping </a:t>
            </a:r>
            <a:r>
              <a:rPr b="1" lang="ko" sz="17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실험</a:t>
            </a:r>
            <a:endParaRPr sz="1700">
              <a:solidFill>
                <a:schemeClr val="dk2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64" name="Google Shape;464;p41"/>
          <p:cNvSpPr/>
          <p:nvPr/>
        </p:nvSpPr>
        <p:spPr>
          <a:xfrm>
            <a:off x="440500" y="1754700"/>
            <a:ext cx="915600" cy="3726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목적</a:t>
            </a:r>
            <a:endParaRPr sz="15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65" name="Google Shape;465;p41"/>
          <p:cNvSpPr txBox="1"/>
          <p:nvPr/>
        </p:nvSpPr>
        <p:spPr>
          <a:xfrm>
            <a:off x="1433261" y="1730550"/>
            <a:ext cx="72930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기본 Reward 대비 커스텀 Reward 설계가 학습 성능에 미치는 영향 분석</a:t>
            </a:r>
            <a:endParaRPr sz="1500">
              <a:solidFill>
                <a:schemeClr val="dk2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466" name="Google Shape;466;p41"/>
          <p:cNvGraphicFramePr/>
          <p:nvPr/>
        </p:nvGraphicFramePr>
        <p:xfrm>
          <a:off x="440500" y="2992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{09EA0B3D-F3DF-47C0-8B46-3B483F88BA2D}</a:tableStyleId>
              </a:tblPr>
              <a:tblGrid>
                <a:gridCol w="2177175"/>
                <a:gridCol w="21771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기본 Reward</a:t>
                      </a:r>
                      <a:endParaRPr b="1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추가 Reward</a:t>
                      </a:r>
                      <a:endParaRPr b="1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81000">
                <a:tc row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1F2328"/>
                          </a:solidFill>
                          <a:highlight>
                            <a:srgbClr val="FFFFFF"/>
                          </a:highlight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전진 속도 - 제어 비용</a:t>
                      </a: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1F2328"/>
                          </a:solidFill>
                          <a:highlight>
                            <a:srgbClr val="FFFFFF"/>
                          </a:highlight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균형 유지 보상</a:t>
                      </a:r>
                      <a:endParaRPr>
                        <a:solidFill>
                          <a:srgbClr val="1F2328"/>
                        </a:solidFill>
                        <a:highlight>
                          <a:srgbClr val="FFFFFF"/>
                        </a:highlight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1F2328"/>
                          </a:solidFill>
                          <a:highlight>
                            <a:schemeClr val="lt1"/>
                          </a:highlight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보행 주기성 보너스</a:t>
                      </a:r>
                      <a:endParaRPr>
                        <a:solidFill>
                          <a:srgbClr val="1F2328"/>
                        </a:solidFill>
                        <a:highlight>
                          <a:srgbClr val="FFFFFF"/>
                        </a:highlight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1F2328"/>
                          </a:solidFill>
                          <a:highlight>
                            <a:schemeClr val="lt1"/>
                          </a:highlight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자세 안정성 보상</a:t>
                      </a:r>
                      <a:endParaRPr>
                        <a:solidFill>
                          <a:srgbClr val="1F2328"/>
                        </a:solidFill>
                        <a:highlight>
                          <a:srgbClr val="FFFFFF"/>
                        </a:highlight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67" name="Google Shape;467;p41"/>
          <p:cNvSpPr txBox="1"/>
          <p:nvPr/>
        </p:nvSpPr>
        <p:spPr>
          <a:xfrm>
            <a:off x="383850" y="2451400"/>
            <a:ext cx="43542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✔ </a:t>
            </a:r>
            <a:r>
              <a:rPr b="1" lang="ko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Humanoid-v5 Reward Design</a:t>
            </a:r>
            <a:endParaRPr sz="1800">
              <a:solidFill>
                <a:schemeClr val="dk2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68" name="Google Shape;468;p41"/>
          <p:cNvSpPr txBox="1"/>
          <p:nvPr/>
        </p:nvSpPr>
        <p:spPr>
          <a:xfrm>
            <a:off x="5392376" y="2451400"/>
            <a:ext cx="12834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✔ </a:t>
            </a:r>
            <a:r>
              <a:rPr b="1" lang="ko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비교 항목</a:t>
            </a:r>
            <a:endParaRPr sz="1800">
              <a:solidFill>
                <a:schemeClr val="dk2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69" name="Google Shape;469;p41"/>
          <p:cNvSpPr txBox="1"/>
          <p:nvPr/>
        </p:nvSpPr>
        <p:spPr>
          <a:xfrm>
            <a:off x="5392376" y="2896300"/>
            <a:ext cx="3047700" cy="10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KR"/>
              <a:buChar char="●"/>
            </a:pPr>
            <a:r>
              <a:rPr lang="ko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학습 수렴 속도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KR"/>
              <a:buChar char="●"/>
            </a:pPr>
            <a:r>
              <a:rPr lang="ko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최종 성능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KR"/>
              <a:buChar char="●"/>
            </a:pPr>
            <a:r>
              <a:rPr lang="ko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정책 안정성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61F1C"/>
        </a:solidFill>
      </p:bgPr>
    </p:bg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42"/>
          <p:cNvSpPr/>
          <p:nvPr/>
        </p:nvSpPr>
        <p:spPr>
          <a:xfrm>
            <a:off x="0" y="281450"/>
            <a:ext cx="9144000" cy="456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</p:txBody>
      </p:sp>
      <p:sp>
        <p:nvSpPr>
          <p:cNvPr id="475" name="Google Shape;475;p42"/>
          <p:cNvSpPr txBox="1"/>
          <p:nvPr/>
        </p:nvSpPr>
        <p:spPr>
          <a:xfrm>
            <a:off x="267975" y="451650"/>
            <a:ext cx="5427900" cy="6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500">
                <a:solidFill>
                  <a:srgbClr val="861F1C"/>
                </a:solidFill>
                <a:latin typeface="Noto Sans KR"/>
                <a:ea typeface="Noto Sans KR"/>
                <a:cs typeface="Noto Sans KR"/>
                <a:sym typeface="Noto Sans KR"/>
              </a:rPr>
              <a:t>5. 실험 셋업</a:t>
            </a:r>
            <a:endParaRPr b="1" sz="2500">
              <a:solidFill>
                <a:srgbClr val="861F1C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476" name="Google Shape;476;p42" title="4. 시그니처(Signature)_가.좌우조합(기본)_국문영문.png"/>
          <p:cNvPicPr preferRelativeResize="0"/>
          <p:nvPr/>
        </p:nvPicPr>
        <p:blipFill rotWithShape="1">
          <a:blip r:embed="rId3">
            <a:alphaModFix/>
          </a:blip>
          <a:srcRect b="31637" l="21203" r="13133" t="32382"/>
          <a:stretch/>
        </p:blipFill>
        <p:spPr>
          <a:xfrm>
            <a:off x="7023175" y="360725"/>
            <a:ext cx="1839227" cy="6948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77" name="Google Shape;477;p42"/>
          <p:cNvCxnSpPr/>
          <p:nvPr/>
        </p:nvCxnSpPr>
        <p:spPr>
          <a:xfrm flipH="1">
            <a:off x="285055" y="1087286"/>
            <a:ext cx="8640000" cy="17100"/>
          </a:xfrm>
          <a:prstGeom prst="straightConnector1">
            <a:avLst/>
          </a:prstGeom>
          <a:noFill/>
          <a:ln cap="flat" cmpd="sng" w="28575">
            <a:solidFill>
              <a:srgbClr val="861F1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8" name="Google Shape;478;p42"/>
          <p:cNvSpPr txBox="1"/>
          <p:nvPr/>
        </p:nvSpPr>
        <p:spPr>
          <a:xfrm>
            <a:off x="331275" y="1239600"/>
            <a:ext cx="40389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5.3 Domain Randomization 실험</a:t>
            </a:r>
            <a:endParaRPr sz="1700">
              <a:solidFill>
                <a:schemeClr val="dk2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79" name="Google Shape;479;p42"/>
          <p:cNvSpPr/>
          <p:nvPr/>
        </p:nvSpPr>
        <p:spPr>
          <a:xfrm>
            <a:off x="440500" y="1754700"/>
            <a:ext cx="915600" cy="3726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목적</a:t>
            </a:r>
            <a:endParaRPr sz="15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80" name="Google Shape;480;p42"/>
          <p:cNvSpPr txBox="1"/>
          <p:nvPr/>
        </p:nvSpPr>
        <p:spPr>
          <a:xfrm>
            <a:off x="1433261" y="1730550"/>
            <a:ext cx="72930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환경 변화에 대한 정책의 일반화 성능(Robustness) 평가 </a:t>
            </a:r>
            <a:endParaRPr sz="1500">
              <a:solidFill>
                <a:schemeClr val="dk2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481" name="Google Shape;481;p42"/>
          <p:cNvGraphicFramePr/>
          <p:nvPr/>
        </p:nvGraphicFramePr>
        <p:xfrm>
          <a:off x="440500" y="2992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{09EA0B3D-F3DF-47C0-8B46-3B483F88BA2D}</a:tableStyleId>
              </a:tblPr>
              <a:tblGrid>
                <a:gridCol w="1924875"/>
                <a:gridCol w="19248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파라미터</a:t>
                      </a:r>
                      <a:endParaRPr b="1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변화 범위</a:t>
                      </a:r>
                      <a:endParaRPr b="1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1F2328"/>
                          </a:solidFill>
                          <a:highlight>
                            <a:srgbClr val="FFFFFF"/>
                          </a:highlight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마찰 계수(Friction)</a:t>
                      </a: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1F2328"/>
                          </a:solidFill>
                          <a:highlight>
                            <a:srgbClr val="FFFFFF"/>
                          </a:highlight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±30%</a:t>
                      </a:r>
                      <a:endParaRPr>
                        <a:solidFill>
                          <a:srgbClr val="1F2328"/>
                        </a:solidFill>
                        <a:highlight>
                          <a:srgbClr val="FFFFFF"/>
                        </a:highlight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1F2328"/>
                          </a:solidFill>
                          <a:highlight>
                            <a:srgbClr val="FFFFFF"/>
                          </a:highlight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바디 질량(Mass)</a:t>
                      </a:r>
                      <a:endParaRPr>
                        <a:solidFill>
                          <a:srgbClr val="1F2328"/>
                        </a:solidFill>
                        <a:highlight>
                          <a:srgbClr val="FFFFFF"/>
                        </a:highlight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1F2328"/>
                          </a:solidFill>
                          <a:highlight>
                            <a:schemeClr val="lt1"/>
                          </a:highlight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±20%</a:t>
                      </a:r>
                      <a:endParaRPr>
                        <a:solidFill>
                          <a:srgbClr val="1F2328"/>
                        </a:solidFill>
                        <a:highlight>
                          <a:srgbClr val="FFFFFF"/>
                        </a:highlight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1F2328"/>
                          </a:solidFill>
                          <a:highlight>
                            <a:srgbClr val="FFFFFF"/>
                          </a:highlight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관절 감쇠(Damping)</a:t>
                      </a:r>
                      <a:endParaRPr>
                        <a:solidFill>
                          <a:srgbClr val="1F2328"/>
                        </a:solidFill>
                        <a:highlight>
                          <a:srgbClr val="FFFFFF"/>
                        </a:highlight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1F2328"/>
                          </a:solidFill>
                          <a:highlight>
                            <a:schemeClr val="lt1"/>
                          </a:highlight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±25%</a:t>
                      </a:r>
                      <a:endParaRPr>
                        <a:solidFill>
                          <a:srgbClr val="1F2328"/>
                        </a:solidFill>
                        <a:highlight>
                          <a:srgbClr val="FFFFFF"/>
                        </a:highlight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82" name="Google Shape;482;p42"/>
          <p:cNvSpPr txBox="1"/>
          <p:nvPr/>
        </p:nvSpPr>
        <p:spPr>
          <a:xfrm>
            <a:off x="383850" y="2451400"/>
            <a:ext cx="43542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✔ </a:t>
            </a:r>
            <a:r>
              <a:rPr b="1" lang="ko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랜덤화 대상 파라미터</a:t>
            </a:r>
            <a:endParaRPr sz="1800">
              <a:solidFill>
                <a:schemeClr val="dk2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83" name="Google Shape;483;p42"/>
          <p:cNvSpPr txBox="1"/>
          <p:nvPr/>
        </p:nvSpPr>
        <p:spPr>
          <a:xfrm>
            <a:off x="5392376" y="2451400"/>
            <a:ext cx="12834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✔ </a:t>
            </a:r>
            <a:r>
              <a:rPr b="1" lang="ko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연구 질문</a:t>
            </a:r>
            <a:endParaRPr sz="1800">
              <a:solidFill>
                <a:schemeClr val="dk2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84" name="Google Shape;484;p42"/>
          <p:cNvSpPr txBox="1"/>
          <p:nvPr/>
        </p:nvSpPr>
        <p:spPr>
          <a:xfrm>
            <a:off x="5392376" y="2896300"/>
            <a:ext cx="3047700" cy="10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랜덤화 환경에서 학습한 정책은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기본 환경에서도 높은 성능을 유지하는가?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61F1C"/>
        </a:solidFill>
      </p:bgPr>
    </p:bg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43"/>
          <p:cNvSpPr/>
          <p:nvPr/>
        </p:nvSpPr>
        <p:spPr>
          <a:xfrm>
            <a:off x="0" y="281450"/>
            <a:ext cx="9144000" cy="456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</p:txBody>
      </p:sp>
      <p:sp>
        <p:nvSpPr>
          <p:cNvPr id="490" name="Google Shape;490;p43"/>
          <p:cNvSpPr txBox="1"/>
          <p:nvPr/>
        </p:nvSpPr>
        <p:spPr>
          <a:xfrm>
            <a:off x="2685150" y="2262500"/>
            <a:ext cx="3773700" cy="6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000">
                <a:solidFill>
                  <a:srgbClr val="861F1C"/>
                </a:solidFill>
                <a:latin typeface="Noto Sans KR"/>
                <a:ea typeface="Noto Sans KR"/>
                <a:cs typeface="Noto Sans KR"/>
                <a:sym typeface="Noto Sans KR"/>
              </a:rPr>
              <a:t>6. 실험 결과</a:t>
            </a:r>
            <a:endParaRPr b="1" sz="3000">
              <a:solidFill>
                <a:srgbClr val="861F1C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491" name="Google Shape;491;p43" title="4. 시그니처(Signature)_가.좌우조합(기본)_국문영문.png"/>
          <p:cNvPicPr preferRelativeResize="0"/>
          <p:nvPr/>
        </p:nvPicPr>
        <p:blipFill rotWithShape="1">
          <a:blip r:embed="rId3">
            <a:alphaModFix/>
          </a:blip>
          <a:srcRect b="31637" l="21203" r="13133" t="32382"/>
          <a:stretch/>
        </p:blipFill>
        <p:spPr>
          <a:xfrm>
            <a:off x="7023175" y="360725"/>
            <a:ext cx="1839227" cy="694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61F1C"/>
        </a:solidFill>
      </p:bgPr>
    </p:bg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44"/>
          <p:cNvSpPr/>
          <p:nvPr/>
        </p:nvSpPr>
        <p:spPr>
          <a:xfrm>
            <a:off x="0" y="281450"/>
            <a:ext cx="9144000" cy="456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</p:txBody>
      </p:sp>
      <p:sp>
        <p:nvSpPr>
          <p:cNvPr id="497" name="Google Shape;497;p44"/>
          <p:cNvSpPr txBox="1"/>
          <p:nvPr/>
        </p:nvSpPr>
        <p:spPr>
          <a:xfrm>
            <a:off x="267975" y="451650"/>
            <a:ext cx="5427900" cy="6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500">
                <a:solidFill>
                  <a:srgbClr val="861F1C"/>
                </a:solidFill>
                <a:latin typeface="Noto Sans KR"/>
                <a:ea typeface="Noto Sans KR"/>
                <a:cs typeface="Noto Sans KR"/>
                <a:sym typeface="Noto Sans KR"/>
              </a:rPr>
              <a:t>6</a:t>
            </a:r>
            <a:r>
              <a:rPr b="1" lang="ko" sz="2500">
                <a:solidFill>
                  <a:srgbClr val="861F1C"/>
                </a:solidFill>
                <a:latin typeface="Noto Sans KR"/>
                <a:ea typeface="Noto Sans KR"/>
                <a:cs typeface="Noto Sans KR"/>
                <a:sym typeface="Noto Sans KR"/>
              </a:rPr>
              <a:t>. 실험 </a:t>
            </a:r>
            <a:r>
              <a:rPr b="1" lang="ko" sz="2500">
                <a:solidFill>
                  <a:srgbClr val="861F1C"/>
                </a:solidFill>
                <a:latin typeface="Noto Sans KR"/>
                <a:ea typeface="Noto Sans KR"/>
                <a:cs typeface="Noto Sans KR"/>
                <a:sym typeface="Noto Sans KR"/>
              </a:rPr>
              <a:t>결과</a:t>
            </a:r>
            <a:endParaRPr b="1" sz="2500">
              <a:solidFill>
                <a:srgbClr val="861F1C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498" name="Google Shape;498;p44" title="4. 시그니처(Signature)_가.좌우조합(기본)_국문영문.png"/>
          <p:cNvPicPr preferRelativeResize="0"/>
          <p:nvPr/>
        </p:nvPicPr>
        <p:blipFill rotWithShape="1">
          <a:blip r:embed="rId3">
            <a:alphaModFix/>
          </a:blip>
          <a:srcRect b="31637" l="21203" r="13133" t="32382"/>
          <a:stretch/>
        </p:blipFill>
        <p:spPr>
          <a:xfrm>
            <a:off x="7023175" y="360725"/>
            <a:ext cx="1839227" cy="6948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99" name="Google Shape;499;p44"/>
          <p:cNvCxnSpPr/>
          <p:nvPr/>
        </p:nvCxnSpPr>
        <p:spPr>
          <a:xfrm flipH="1">
            <a:off x="285055" y="1087286"/>
            <a:ext cx="8640000" cy="17100"/>
          </a:xfrm>
          <a:prstGeom prst="straightConnector1">
            <a:avLst/>
          </a:prstGeom>
          <a:noFill/>
          <a:ln cap="flat" cmpd="sng" w="28575">
            <a:solidFill>
              <a:srgbClr val="861F1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0" name="Google Shape;500;p44"/>
          <p:cNvSpPr txBox="1"/>
          <p:nvPr/>
        </p:nvSpPr>
        <p:spPr>
          <a:xfrm>
            <a:off x="2550650" y="2379675"/>
            <a:ext cx="502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61F1C"/>
        </a:solidFill>
      </p:bgPr>
    </p:bg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45"/>
          <p:cNvSpPr/>
          <p:nvPr/>
        </p:nvSpPr>
        <p:spPr>
          <a:xfrm>
            <a:off x="0" y="281450"/>
            <a:ext cx="9144000" cy="456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</p:txBody>
      </p:sp>
      <p:sp>
        <p:nvSpPr>
          <p:cNvPr id="506" name="Google Shape;506;p45"/>
          <p:cNvSpPr txBox="1"/>
          <p:nvPr/>
        </p:nvSpPr>
        <p:spPr>
          <a:xfrm>
            <a:off x="2685150" y="2262500"/>
            <a:ext cx="3773700" cy="6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000">
                <a:solidFill>
                  <a:srgbClr val="861F1C"/>
                </a:solidFill>
                <a:latin typeface="Noto Sans KR"/>
                <a:ea typeface="Noto Sans KR"/>
                <a:cs typeface="Noto Sans KR"/>
                <a:sym typeface="Noto Sans KR"/>
              </a:rPr>
              <a:t>7. 토의 및 결론</a:t>
            </a:r>
            <a:endParaRPr b="1" sz="3000">
              <a:solidFill>
                <a:srgbClr val="861F1C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507" name="Google Shape;507;p45" title="4. 시그니처(Signature)_가.좌우조합(기본)_국문영문.png"/>
          <p:cNvPicPr preferRelativeResize="0"/>
          <p:nvPr/>
        </p:nvPicPr>
        <p:blipFill rotWithShape="1">
          <a:blip r:embed="rId3">
            <a:alphaModFix/>
          </a:blip>
          <a:srcRect b="31637" l="21203" r="13133" t="32382"/>
          <a:stretch/>
        </p:blipFill>
        <p:spPr>
          <a:xfrm>
            <a:off x="7023175" y="360725"/>
            <a:ext cx="1839227" cy="694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61F1C"/>
        </a:solidFill>
      </p:bgPr>
    </p:bg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46"/>
          <p:cNvSpPr/>
          <p:nvPr/>
        </p:nvSpPr>
        <p:spPr>
          <a:xfrm>
            <a:off x="0" y="281450"/>
            <a:ext cx="9144000" cy="456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</p:txBody>
      </p:sp>
      <p:sp>
        <p:nvSpPr>
          <p:cNvPr id="513" name="Google Shape;513;p46"/>
          <p:cNvSpPr txBox="1"/>
          <p:nvPr/>
        </p:nvSpPr>
        <p:spPr>
          <a:xfrm>
            <a:off x="267975" y="451650"/>
            <a:ext cx="5427900" cy="6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500">
                <a:solidFill>
                  <a:srgbClr val="861F1C"/>
                </a:solidFill>
                <a:latin typeface="Noto Sans KR"/>
                <a:ea typeface="Noto Sans KR"/>
                <a:cs typeface="Noto Sans KR"/>
                <a:sym typeface="Noto Sans KR"/>
              </a:rPr>
              <a:t>7</a:t>
            </a:r>
            <a:r>
              <a:rPr b="1" lang="ko" sz="2500">
                <a:solidFill>
                  <a:srgbClr val="861F1C"/>
                </a:solidFill>
                <a:latin typeface="Noto Sans KR"/>
                <a:ea typeface="Noto Sans KR"/>
                <a:cs typeface="Noto Sans KR"/>
                <a:sym typeface="Noto Sans KR"/>
              </a:rPr>
              <a:t>. </a:t>
            </a:r>
            <a:r>
              <a:rPr b="1" lang="ko" sz="2500">
                <a:solidFill>
                  <a:srgbClr val="861F1C"/>
                </a:solidFill>
                <a:latin typeface="Noto Sans KR"/>
                <a:ea typeface="Noto Sans KR"/>
                <a:cs typeface="Noto Sans KR"/>
                <a:sym typeface="Noto Sans KR"/>
              </a:rPr>
              <a:t>토의 및 결론</a:t>
            </a:r>
            <a:endParaRPr b="1" sz="2500">
              <a:solidFill>
                <a:srgbClr val="861F1C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514" name="Google Shape;514;p46" title="4. 시그니처(Signature)_가.좌우조합(기본)_국문영문.png"/>
          <p:cNvPicPr preferRelativeResize="0"/>
          <p:nvPr/>
        </p:nvPicPr>
        <p:blipFill rotWithShape="1">
          <a:blip r:embed="rId3">
            <a:alphaModFix/>
          </a:blip>
          <a:srcRect b="31637" l="21203" r="13133" t="32382"/>
          <a:stretch/>
        </p:blipFill>
        <p:spPr>
          <a:xfrm>
            <a:off x="7023175" y="360725"/>
            <a:ext cx="1839227" cy="6948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15" name="Google Shape;515;p46"/>
          <p:cNvCxnSpPr/>
          <p:nvPr/>
        </p:nvCxnSpPr>
        <p:spPr>
          <a:xfrm flipH="1">
            <a:off x="285055" y="1087286"/>
            <a:ext cx="8640000" cy="17100"/>
          </a:xfrm>
          <a:prstGeom prst="straightConnector1">
            <a:avLst/>
          </a:prstGeom>
          <a:noFill/>
          <a:ln cap="flat" cmpd="sng" w="28575">
            <a:solidFill>
              <a:srgbClr val="861F1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6" name="Google Shape;516;p46"/>
          <p:cNvSpPr txBox="1"/>
          <p:nvPr/>
        </p:nvSpPr>
        <p:spPr>
          <a:xfrm>
            <a:off x="2550650" y="2379675"/>
            <a:ext cx="502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61F1C"/>
        </a:solidFill>
      </p:bgPr>
    </p:bg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1" name="Google Shape;521;p47" title="4. 시그니처(Signature)_가.좌우조합(기본)_국문영문.png"/>
          <p:cNvPicPr preferRelativeResize="0"/>
          <p:nvPr/>
        </p:nvPicPr>
        <p:blipFill rotWithShape="1">
          <a:blip r:embed="rId3">
            <a:alphaModFix/>
          </a:blip>
          <a:srcRect b="31637" l="21203" r="13133" t="32382"/>
          <a:stretch/>
        </p:blipFill>
        <p:spPr>
          <a:xfrm>
            <a:off x="7023175" y="360725"/>
            <a:ext cx="1839227" cy="694824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47"/>
          <p:cNvSpPr txBox="1"/>
          <p:nvPr/>
        </p:nvSpPr>
        <p:spPr>
          <a:xfrm>
            <a:off x="3185550" y="2269800"/>
            <a:ext cx="2772900" cy="60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0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감사합니다.</a:t>
            </a:r>
            <a:endParaRPr b="1" sz="3000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